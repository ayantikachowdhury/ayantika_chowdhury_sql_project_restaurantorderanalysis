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5" r:id="rId2"/>
    <p:sldId id="270" r:id="rId3"/>
    <p:sldId id="276" r:id="rId4"/>
    <p:sldId id="272" r:id="rId5"/>
    <p:sldId id="277" r:id="rId6"/>
    <p:sldId id="274" r:id="rId7"/>
    <p:sldId id="278" r:id="rId8"/>
    <p:sldId id="273" r:id="rId9"/>
    <p:sldId id="257" r:id="rId10"/>
    <p:sldId id="261" r:id="rId11"/>
    <p:sldId id="260" r:id="rId12"/>
    <p:sldId id="279" r:id="rId13"/>
    <p:sldId id="262" r:id="rId14"/>
    <p:sldId id="263" r:id="rId15"/>
    <p:sldId id="269" r:id="rId16"/>
    <p:sldId id="264" r:id="rId17"/>
    <p:sldId id="266" r:id="rId18"/>
    <p:sldId id="267" r:id="rId19"/>
    <p:sldId id="271" r:id="rId20"/>
    <p:sldId id="275" r:id="rId21"/>
    <p:sldId id="268" r:id="rId22"/>
    <p:sldId id="258" r:id="rId23"/>
    <p:sldId id="25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'qq13'!$A$4:$A$6</c:f>
              <c:strCache>
                <c:ptCount val="3"/>
                <c:pt idx="0">
                  <c:v>January</c:v>
                </c:pt>
                <c:pt idx="1">
                  <c:v>February</c:v>
                </c:pt>
                <c:pt idx="2">
                  <c:v>March</c:v>
                </c:pt>
              </c:strCache>
            </c:strRef>
          </c:cat>
          <c:val>
            <c:numRef>
              <c:f>'qq13'!$B$4:$B$6</c:f>
              <c:numCache>
                <c:formatCode>General</c:formatCode>
                <c:ptCount val="3"/>
                <c:pt idx="0">
                  <c:v>1845</c:v>
                </c:pt>
                <c:pt idx="1">
                  <c:v>1685</c:v>
                </c:pt>
                <c:pt idx="2">
                  <c:v>1840</c:v>
                </c:pt>
              </c:numCache>
            </c:numRef>
          </c:val>
          <c:smooth val="0"/>
          <c:extLst>
            <c:ext xmlns:c16="http://schemas.microsoft.com/office/drawing/2014/chart" uri="{C3380CC4-5D6E-409C-BE32-E72D297353CC}">
              <c16:uniqueId val="{00000000-8CEB-4A7E-953F-64C3801DA74B}"/>
            </c:ext>
          </c:extLst>
        </c:ser>
        <c:dLbls>
          <c:dLblPos val="ctr"/>
          <c:showLegendKey val="0"/>
          <c:showVal val="1"/>
          <c:showCatName val="0"/>
          <c:showSerName val="0"/>
          <c:showPercent val="0"/>
          <c:showBubbleSize val="0"/>
        </c:dLbls>
        <c:smooth val="0"/>
        <c:axId val="1409046736"/>
        <c:axId val="1409053936"/>
      </c:lineChart>
      <c:catAx>
        <c:axId val="1409046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09053936"/>
        <c:crosses val="autoZero"/>
        <c:auto val="1"/>
        <c:lblAlgn val="ctr"/>
        <c:lblOffset val="100"/>
        <c:noMultiLvlLbl val="0"/>
      </c:catAx>
      <c:valAx>
        <c:axId val="1409053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09046736"/>
        <c:crosses val="autoZero"/>
        <c:crossBetween val="between"/>
      </c:valAx>
      <c:spPr>
        <a:solidFill>
          <a:schemeClr val="bg2">
            <a:lumMod val="7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[q1 proj.csv]q1 proj!PivotTable1</c:name>
    <c:fmtId val="43"/>
  </c:pivotSource>
  <c:chart>
    <c:autoTitleDeleted val="1"/>
    <c:pivotFmts>
      <c:pivotFmt>
        <c:idx val="0"/>
        <c:spPr>
          <a:solidFill>
            <a:schemeClr val="accent6"/>
          </a:solidFill>
          <a:ln>
            <a:noFill/>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'q1 proj'!$K$4</c:f>
              <c:strCache>
                <c:ptCount val="1"/>
                <c:pt idx="0">
                  <c:v>Total</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'q1 proj'!$J$5:$J$12</c:f>
              <c:multiLvlStrCache>
                <c:ptCount val="5"/>
                <c:lvl>
                  <c:pt idx="0">
                    <c:v>Cheeseburger</c:v>
                  </c:pt>
                  <c:pt idx="1">
                    <c:v>French Fries</c:v>
                  </c:pt>
                  <c:pt idx="2">
                    <c:v>Hamburger</c:v>
                  </c:pt>
                  <c:pt idx="3">
                    <c:v>Edamame</c:v>
                  </c:pt>
                  <c:pt idx="4">
                    <c:v>Korean Beef Bowl</c:v>
                  </c:pt>
                </c:lvl>
                <c:lvl>
                  <c:pt idx="0">
                    <c:v>American</c:v>
                  </c:pt>
                  <c:pt idx="3">
                    <c:v>Asian</c:v>
                  </c:pt>
                </c:lvl>
              </c:multiLvlStrCache>
            </c:multiLvlStrRef>
          </c:cat>
          <c:val>
            <c:numRef>
              <c:f>'q1 proj'!$K$5:$K$12</c:f>
              <c:numCache>
                <c:formatCode>General</c:formatCode>
                <c:ptCount val="5"/>
                <c:pt idx="0">
                  <c:v>583</c:v>
                </c:pt>
                <c:pt idx="1">
                  <c:v>571</c:v>
                </c:pt>
                <c:pt idx="2">
                  <c:v>622</c:v>
                </c:pt>
                <c:pt idx="3">
                  <c:v>620</c:v>
                </c:pt>
                <c:pt idx="4">
                  <c:v>588</c:v>
                </c:pt>
              </c:numCache>
            </c:numRef>
          </c:val>
          <c:extLst>
            <c:ext xmlns:c16="http://schemas.microsoft.com/office/drawing/2014/chart" uri="{C3380CC4-5D6E-409C-BE32-E72D297353CC}">
              <c16:uniqueId val="{00000000-B3A0-4C93-B03A-DA605A714451}"/>
            </c:ext>
          </c:extLst>
        </c:ser>
        <c:dLbls>
          <c:dLblPos val="ctr"/>
          <c:showLegendKey val="0"/>
          <c:showVal val="1"/>
          <c:showCatName val="0"/>
          <c:showSerName val="0"/>
          <c:showPercent val="0"/>
          <c:showBubbleSize val="0"/>
        </c:dLbls>
        <c:gapWidth val="150"/>
        <c:overlap val="100"/>
        <c:axId val="1048680767"/>
        <c:axId val="1048697567"/>
      </c:barChart>
      <c:catAx>
        <c:axId val="1048680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8697567"/>
        <c:crosses val="autoZero"/>
        <c:auto val="1"/>
        <c:lblAlgn val="ctr"/>
        <c:lblOffset val="100"/>
        <c:noMultiLvlLbl val="0"/>
      </c:catAx>
      <c:valAx>
        <c:axId val="1048697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86807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[q2 proj.csv]q2 proj!PivotTable2</c:name>
    <c:fmtId val="29"/>
  </c:pivotSource>
  <c:chart>
    <c:autoTitleDeleted val="1"/>
    <c:pivotFmts>
      <c:pivotFmt>
        <c:idx val="0"/>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'q2 proj'!$J$3</c:f>
              <c:strCache>
                <c:ptCount val="1"/>
                <c:pt idx="0">
                  <c:v>Total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'q2 proj'!$I$4:$I$12</c:f>
              <c:multiLvlStrCache>
                <c:ptCount val="5"/>
                <c:lvl>
                  <c:pt idx="0">
                    <c:v>Potstickers</c:v>
                  </c:pt>
                  <c:pt idx="1">
                    <c:v>Cheese Lasagna</c:v>
                  </c:pt>
                  <c:pt idx="2">
                    <c:v>Cheese Quesadillas</c:v>
                  </c:pt>
                  <c:pt idx="3">
                    <c:v>Chicken Tacos</c:v>
                  </c:pt>
                  <c:pt idx="4">
                    <c:v>Steak Tacos</c:v>
                  </c:pt>
                </c:lvl>
                <c:lvl>
                  <c:pt idx="0">
                    <c:v>Asian</c:v>
                  </c:pt>
                  <c:pt idx="1">
                    <c:v>Italian</c:v>
                  </c:pt>
                  <c:pt idx="2">
                    <c:v>Mexican</c:v>
                  </c:pt>
                </c:lvl>
              </c:multiLvlStrCache>
            </c:multiLvlStrRef>
          </c:cat>
          <c:val>
            <c:numRef>
              <c:f>'q2 proj'!$J$4:$J$12</c:f>
              <c:numCache>
                <c:formatCode>General</c:formatCode>
                <c:ptCount val="5"/>
                <c:pt idx="0">
                  <c:v>205</c:v>
                </c:pt>
                <c:pt idx="1">
                  <c:v>207</c:v>
                </c:pt>
                <c:pt idx="2">
                  <c:v>233</c:v>
                </c:pt>
                <c:pt idx="3">
                  <c:v>123</c:v>
                </c:pt>
                <c:pt idx="4">
                  <c:v>214</c:v>
                </c:pt>
              </c:numCache>
            </c:numRef>
          </c:val>
          <c:extLst>
            <c:ext xmlns:c16="http://schemas.microsoft.com/office/drawing/2014/chart" uri="{C3380CC4-5D6E-409C-BE32-E72D297353CC}">
              <c16:uniqueId val="{00000000-31DC-4BD2-BB7A-A6AE63CFE3F1}"/>
            </c:ext>
          </c:extLst>
        </c:ser>
        <c:dLbls>
          <c:dLblPos val="outEnd"/>
          <c:showLegendKey val="0"/>
          <c:showVal val="1"/>
          <c:showCatName val="0"/>
          <c:showSerName val="0"/>
          <c:showPercent val="0"/>
          <c:showBubbleSize val="0"/>
        </c:dLbls>
        <c:gapWidth val="219"/>
        <c:overlap val="-27"/>
        <c:axId val="1288482255"/>
        <c:axId val="1288482735"/>
      </c:barChart>
      <c:catAx>
        <c:axId val="12884822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8482735"/>
        <c:crosses val="autoZero"/>
        <c:auto val="1"/>
        <c:lblAlgn val="ctr"/>
        <c:lblOffset val="100"/>
        <c:noMultiLvlLbl val="0"/>
      </c:catAx>
      <c:valAx>
        <c:axId val="12884827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84822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[Q 4.csv]Q 4!PivotTable1</c:name>
    <c:fmtId val="23"/>
  </c:pivotSource>
  <c:chart>
    <c:autoTitleDeleted val="1"/>
    <c:pivotFmts>
      <c:pivotFmt>
        <c:idx val="0"/>
        <c:spPr>
          <a:pattFill prst="narHorz">
            <a:fgClr>
              <a:schemeClr val="accent2"/>
            </a:fgClr>
            <a:bgClr>
              <a:schemeClr val="accent2">
                <a:lumMod val="20000"/>
                <a:lumOff val="80000"/>
              </a:schemeClr>
            </a:bgClr>
          </a:pattFill>
          <a:ln>
            <a:noFill/>
          </a:ln>
          <a:effectLst>
            <a:innerShdw blurRad="114300">
              <a:schemeClr val="accent2"/>
            </a:innerShdw>
          </a:effectLst>
        </c:spPr>
        <c:marker>
          <c:symbol val="circle"/>
          <c:size val="6"/>
          <c:spPr>
            <a:solidFill>
              <a:schemeClr val="accent2"/>
            </a:solidFill>
            <a:ln w="9525">
              <a:no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100395732267213"/>
          <c:y val="7.8467430460998633E-2"/>
          <c:w val="0.84899604267732787"/>
          <c:h val="0.84861324605340671"/>
        </c:manualLayout>
      </c:layout>
      <c:barChart>
        <c:barDir val="col"/>
        <c:grouping val="clustered"/>
        <c:varyColors val="0"/>
        <c:ser>
          <c:idx val="0"/>
          <c:order val="0"/>
          <c:tx>
            <c:strRef>
              <c:f>'Q 4'!$P$6</c:f>
              <c:strCache>
                <c:ptCount val="1"/>
                <c:pt idx="0">
                  <c:v>Total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 4'!$O$7:$O$21</c:f>
              <c:strCache>
                <c:ptCount val="14"/>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strCache>
            </c:strRef>
          </c:cat>
          <c:val>
            <c:numRef>
              <c:f>'Q 4'!$P$7:$P$21</c:f>
              <c:numCache>
                <c:formatCode>General</c:formatCode>
                <c:ptCount val="14"/>
                <c:pt idx="0">
                  <c:v>2</c:v>
                </c:pt>
                <c:pt idx="1">
                  <c:v>288</c:v>
                </c:pt>
                <c:pt idx="2">
                  <c:v>647</c:v>
                </c:pt>
                <c:pt idx="3">
                  <c:v>595</c:v>
                </c:pt>
                <c:pt idx="4">
                  <c:v>426</c:v>
                </c:pt>
                <c:pt idx="5">
                  <c:v>357</c:v>
                </c:pt>
                <c:pt idx="6">
                  <c:v>480</c:v>
                </c:pt>
                <c:pt idx="7">
                  <c:v>623</c:v>
                </c:pt>
                <c:pt idx="8">
                  <c:v>596</c:v>
                </c:pt>
                <c:pt idx="9">
                  <c:v>498</c:v>
                </c:pt>
                <c:pt idx="10">
                  <c:v>413</c:v>
                </c:pt>
                <c:pt idx="11">
                  <c:v>289</c:v>
                </c:pt>
                <c:pt idx="12">
                  <c:v>152</c:v>
                </c:pt>
                <c:pt idx="13">
                  <c:v>4</c:v>
                </c:pt>
              </c:numCache>
            </c:numRef>
          </c:val>
          <c:extLst>
            <c:ext xmlns:c16="http://schemas.microsoft.com/office/drawing/2014/chart" uri="{C3380CC4-5D6E-409C-BE32-E72D297353CC}">
              <c16:uniqueId val="{00000000-9BF9-44B4-BAC5-73002BA51676}"/>
            </c:ext>
          </c:extLst>
        </c:ser>
        <c:dLbls>
          <c:dLblPos val="outEnd"/>
          <c:showLegendKey val="0"/>
          <c:showVal val="1"/>
          <c:showCatName val="0"/>
          <c:showSerName val="0"/>
          <c:showPercent val="0"/>
          <c:showBubbleSize val="0"/>
        </c:dLbls>
        <c:gapWidth val="100"/>
        <c:overlap val="-24"/>
        <c:axId val="1856426048"/>
        <c:axId val="1856426528"/>
      </c:barChart>
      <c:catAx>
        <c:axId val="185642604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6426528"/>
        <c:crosses val="autoZero"/>
        <c:auto val="1"/>
        <c:lblAlgn val="ctr"/>
        <c:lblOffset val="100"/>
        <c:noMultiLvlLbl val="0"/>
      </c:catAx>
      <c:valAx>
        <c:axId val="1856426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64260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[q6 proj.csv]q6 proj!PivotTable3</c:name>
    <c:fmtId val="13"/>
  </c:pivotSource>
  <c:chart>
    <c:autoTitleDeleted val="1"/>
    <c:pivotFmts>
      <c:pivotFmt>
        <c:idx val="0"/>
        <c:spPr>
          <a:solidFill>
            <a:schemeClr val="accent6"/>
          </a:solidFill>
          <a:ln>
            <a:noFill/>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'q6 proj'!$G$4</c:f>
              <c:strCache>
                <c:ptCount val="1"/>
                <c:pt idx="0">
                  <c:v>Total</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'q6 proj'!$F$5:$F$12</c:f>
              <c:strCache>
                <c:ptCount val="7"/>
                <c:pt idx="0">
                  <c:v>Sunday</c:v>
                </c:pt>
                <c:pt idx="1">
                  <c:v>Monday</c:v>
                </c:pt>
                <c:pt idx="2">
                  <c:v>Tuesday</c:v>
                </c:pt>
                <c:pt idx="3">
                  <c:v>Wednesday</c:v>
                </c:pt>
                <c:pt idx="4">
                  <c:v>Thursday</c:v>
                </c:pt>
                <c:pt idx="5">
                  <c:v>Friday</c:v>
                </c:pt>
                <c:pt idx="6">
                  <c:v>Saturday</c:v>
                </c:pt>
              </c:strCache>
            </c:strRef>
          </c:cat>
          <c:val>
            <c:numRef>
              <c:f>'q6 proj'!$G$5:$G$12</c:f>
              <c:numCache>
                <c:formatCode>General</c:formatCode>
                <c:ptCount val="7"/>
                <c:pt idx="0">
                  <c:v>796</c:v>
                </c:pt>
                <c:pt idx="1">
                  <c:v>885</c:v>
                </c:pt>
                <c:pt idx="2">
                  <c:v>766</c:v>
                </c:pt>
                <c:pt idx="3">
                  <c:v>682</c:v>
                </c:pt>
                <c:pt idx="4">
                  <c:v>743</c:v>
                </c:pt>
                <c:pt idx="5">
                  <c:v>787</c:v>
                </c:pt>
                <c:pt idx="6">
                  <c:v>711</c:v>
                </c:pt>
              </c:numCache>
            </c:numRef>
          </c:val>
          <c:extLst>
            <c:ext xmlns:c16="http://schemas.microsoft.com/office/drawing/2014/chart" uri="{C3380CC4-5D6E-409C-BE32-E72D297353CC}">
              <c16:uniqueId val="{00000000-5B8D-401A-9175-81E425AF3A13}"/>
            </c:ext>
          </c:extLst>
        </c:ser>
        <c:dLbls>
          <c:dLblPos val="outEnd"/>
          <c:showLegendKey val="0"/>
          <c:showVal val="1"/>
          <c:showCatName val="0"/>
          <c:showSerName val="0"/>
          <c:showPercent val="0"/>
          <c:showBubbleSize val="0"/>
        </c:dLbls>
        <c:gapWidth val="219"/>
        <c:overlap val="-27"/>
        <c:axId val="1242731407"/>
        <c:axId val="1242731887"/>
      </c:barChart>
      <c:catAx>
        <c:axId val="12427314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2731887"/>
        <c:crosses val="autoZero"/>
        <c:auto val="1"/>
        <c:lblAlgn val="ctr"/>
        <c:lblOffset val="100"/>
        <c:noMultiLvlLbl val="0"/>
      </c:catAx>
      <c:valAx>
        <c:axId val="12427318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27314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 7.1 proj.csv]q 7.1 proj!PivotTable4</c:name>
    <c:fmtId val="19"/>
  </c:pivotSource>
  <c:chart>
    <c:autoTitleDeleted val="1"/>
    <c:pivotFmts>
      <c:pivotFmt>
        <c:idx val="0"/>
        <c:spPr>
          <a:pattFill prst="narHorz">
            <a:fgClr>
              <a:schemeClr val="accent2"/>
            </a:fgClr>
            <a:bgClr>
              <a:schemeClr val="accent2">
                <a:lumMod val="20000"/>
                <a:lumOff val="80000"/>
              </a:schemeClr>
            </a:bgClr>
          </a:pattFill>
          <a:ln>
            <a:noFill/>
          </a:ln>
          <a:effectLst/>
        </c:spPr>
        <c:marker>
          <c:symbol val="circle"/>
          <c:size val="5"/>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Horz">
            <a:fgClr>
              <a:schemeClr val="accent2"/>
            </a:fgClr>
            <a:bgClr>
              <a:schemeClr val="accent2">
                <a:lumMod val="20000"/>
                <a:lumOff val="80000"/>
              </a:schemeClr>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Horz">
            <a:fgClr>
              <a:schemeClr val="accent2"/>
            </a:fgClr>
            <a:bgClr>
              <a:schemeClr val="accent2">
                <a:lumMod val="20000"/>
                <a:lumOff val="80000"/>
              </a:schemeClr>
            </a:bgClr>
          </a:patt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4015813135050747E-2"/>
          <c:y val="0.19222726707121918"/>
          <c:w val="0.90297211178513748"/>
          <c:h val="0.29627337101054207"/>
        </c:manualLayout>
      </c:layout>
      <c:barChart>
        <c:barDir val="col"/>
        <c:grouping val="clustered"/>
        <c:varyColors val="0"/>
        <c:ser>
          <c:idx val="0"/>
          <c:order val="0"/>
          <c:tx>
            <c:strRef>
              <c:f>'q 7.1 proj'!$H$3</c:f>
              <c:strCache>
                <c:ptCount val="1"/>
                <c:pt idx="0">
                  <c:v>Total</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'q 7.1 proj'!$G$4:$G$68</c:f>
              <c:multiLvlStrCache>
                <c:ptCount val="59"/>
                <c:lvl>
                  <c:pt idx="0">
                    <c:v>Chicken Parmesan</c:v>
                  </c:pt>
                  <c:pt idx="1">
                    <c:v>Chips &amp; Salsa</c:v>
                  </c:pt>
                  <c:pt idx="2">
                    <c:v>Hot Dog</c:v>
                  </c:pt>
                  <c:pt idx="3">
                    <c:v>Korean Beef Bowl</c:v>
                  </c:pt>
                  <c:pt idx="4">
                    <c:v>Orange Chicken</c:v>
                  </c:pt>
                  <c:pt idx="5">
                    <c:v>Potstickers</c:v>
                  </c:pt>
                  <c:pt idx="6">
                    <c:v>Salmon Roll</c:v>
                  </c:pt>
                  <c:pt idx="7">
                    <c:v>Spaghetti</c:v>
                  </c:pt>
                  <c:pt idx="8">
                    <c:v>Spaghetti &amp; Meatballs</c:v>
                  </c:pt>
                  <c:pt idx="9">
                    <c:v>Steak Burrito</c:v>
                  </c:pt>
                  <c:pt idx="10">
                    <c:v>Steak Torta</c:v>
                  </c:pt>
                  <c:pt idx="11">
                    <c:v>Tofu Pad Thai</c:v>
                  </c:pt>
                  <c:pt idx="12">
                    <c:v>Chicken Parmesan</c:v>
                  </c:pt>
                  <c:pt idx="13">
                    <c:v>Chips &amp; Salsa</c:v>
                  </c:pt>
                  <c:pt idx="14">
                    <c:v>Edamame</c:v>
                  </c:pt>
                  <c:pt idx="15">
                    <c:v>Eggplant Parmesan</c:v>
                  </c:pt>
                  <c:pt idx="16">
                    <c:v>Fettuccine Alfredo</c:v>
                  </c:pt>
                  <c:pt idx="17">
                    <c:v>French Fries</c:v>
                  </c:pt>
                  <c:pt idx="18">
                    <c:v>Hot Dog</c:v>
                  </c:pt>
                  <c:pt idx="19">
                    <c:v>Korean Beef Bowl</c:v>
                  </c:pt>
                  <c:pt idx="20">
                    <c:v>Meat Lasagna</c:v>
                  </c:pt>
                  <c:pt idx="21">
                    <c:v>Spaghetti</c:v>
                  </c:pt>
                  <c:pt idx="22">
                    <c:v>Spaghetti &amp; Meatballs</c:v>
                  </c:pt>
                  <c:pt idx="23">
                    <c:v>Steak Tacos</c:v>
                  </c:pt>
                  <c:pt idx="24">
                    <c:v>Chicken Burrito</c:v>
                  </c:pt>
                  <c:pt idx="25">
                    <c:v>Chicken Parmesan</c:v>
                  </c:pt>
                  <c:pt idx="26">
                    <c:v>Edamame</c:v>
                  </c:pt>
                  <c:pt idx="27">
                    <c:v>Eggplant Parmesan</c:v>
                  </c:pt>
                  <c:pt idx="28">
                    <c:v>Fettuccine Alfredo</c:v>
                  </c:pt>
                  <c:pt idx="29">
                    <c:v>French Fries</c:v>
                  </c:pt>
                  <c:pt idx="30">
                    <c:v>Hot Dog</c:v>
                  </c:pt>
                  <c:pt idx="31">
                    <c:v>Orange Chicken</c:v>
                  </c:pt>
                  <c:pt idx="32">
                    <c:v>Salmon Roll</c:v>
                  </c:pt>
                  <c:pt idx="33">
                    <c:v>Steak Burrito</c:v>
                  </c:pt>
                  <c:pt idx="34">
                    <c:v>Veggie Burger</c:v>
                  </c:pt>
                  <c:pt idx="35">
                    <c:v>California Roll</c:v>
                  </c:pt>
                  <c:pt idx="36">
                    <c:v>Cheeseburger</c:v>
                  </c:pt>
                  <c:pt idx="37">
                    <c:v>Chicken Tacos</c:v>
                  </c:pt>
                  <c:pt idx="38">
                    <c:v>Chips &amp; Salsa</c:v>
                  </c:pt>
                  <c:pt idx="39">
                    <c:v>Eggplant Parmesan</c:v>
                  </c:pt>
                  <c:pt idx="40">
                    <c:v>Meat Lasagna</c:v>
                  </c:pt>
                  <c:pt idx="41">
                    <c:v>Mushroom Ravioli</c:v>
                  </c:pt>
                  <c:pt idx="42">
                    <c:v>Orange Chicken</c:v>
                  </c:pt>
                  <c:pt idx="43">
                    <c:v>Salmon Roll</c:v>
                  </c:pt>
                  <c:pt idx="44">
                    <c:v>Spaghetti</c:v>
                  </c:pt>
                  <c:pt idx="45">
                    <c:v>Spaghetti &amp; Meatballs</c:v>
                  </c:pt>
                  <c:pt idx="46">
                    <c:v>Steak Burrito</c:v>
                  </c:pt>
                  <c:pt idx="47">
                    <c:v>Cheeseburger</c:v>
                  </c:pt>
                  <c:pt idx="48">
                    <c:v>Chicken Burrito</c:v>
                  </c:pt>
                  <c:pt idx="49">
                    <c:v>Chips &amp; Guacamole</c:v>
                  </c:pt>
                  <c:pt idx="50">
                    <c:v>Eggplant Parmesan</c:v>
                  </c:pt>
                  <c:pt idx="51">
                    <c:v>Hamburger</c:v>
                  </c:pt>
                  <c:pt idx="52">
                    <c:v>Mac &amp; Cheese</c:v>
                  </c:pt>
                  <c:pt idx="53">
                    <c:v>Mushroom Ravioli</c:v>
                  </c:pt>
                  <c:pt idx="54">
                    <c:v>Potstickers</c:v>
                  </c:pt>
                  <c:pt idx="55">
                    <c:v>Salmon Roll</c:v>
                  </c:pt>
                  <c:pt idx="56">
                    <c:v>Spaghetti</c:v>
                  </c:pt>
                  <c:pt idx="57">
                    <c:v>Steak Torta</c:v>
                  </c:pt>
                  <c:pt idx="58">
                    <c:v>Tofu Pad Thai</c:v>
                  </c:pt>
                </c:lvl>
                <c:lvl>
                  <c:pt idx="0">
                    <c:v>330</c:v>
                  </c:pt>
                  <c:pt idx="12">
                    <c:v>440</c:v>
                  </c:pt>
                  <c:pt idx="24">
                    <c:v>1957</c:v>
                  </c:pt>
                  <c:pt idx="35">
                    <c:v>2075</c:v>
                  </c:pt>
                  <c:pt idx="47">
                    <c:v>2675</c:v>
                  </c:pt>
                </c:lvl>
              </c:multiLvlStrCache>
            </c:multiLvlStrRef>
          </c:cat>
          <c:val>
            <c:numRef>
              <c:f>'q 7.1 proj'!$H$4:$H$68</c:f>
              <c:numCache>
                <c:formatCode>General</c:formatCode>
                <c:ptCount val="59"/>
                <c:pt idx="0">
                  <c:v>18</c:v>
                </c:pt>
                <c:pt idx="1">
                  <c:v>7</c:v>
                </c:pt>
                <c:pt idx="2">
                  <c:v>9</c:v>
                </c:pt>
                <c:pt idx="3">
                  <c:v>18</c:v>
                </c:pt>
                <c:pt idx="4">
                  <c:v>17</c:v>
                </c:pt>
                <c:pt idx="5">
                  <c:v>9</c:v>
                </c:pt>
                <c:pt idx="6">
                  <c:v>15</c:v>
                </c:pt>
                <c:pt idx="7">
                  <c:v>15</c:v>
                </c:pt>
                <c:pt idx="8">
                  <c:v>18</c:v>
                </c:pt>
                <c:pt idx="9">
                  <c:v>15</c:v>
                </c:pt>
                <c:pt idx="10">
                  <c:v>14</c:v>
                </c:pt>
                <c:pt idx="11">
                  <c:v>15</c:v>
                </c:pt>
                <c:pt idx="12">
                  <c:v>18</c:v>
                </c:pt>
                <c:pt idx="13">
                  <c:v>7</c:v>
                </c:pt>
                <c:pt idx="14">
                  <c:v>5</c:v>
                </c:pt>
                <c:pt idx="15">
                  <c:v>17</c:v>
                </c:pt>
                <c:pt idx="16">
                  <c:v>15</c:v>
                </c:pt>
                <c:pt idx="17">
                  <c:v>7</c:v>
                </c:pt>
                <c:pt idx="18">
                  <c:v>9</c:v>
                </c:pt>
                <c:pt idx="19">
                  <c:v>18</c:v>
                </c:pt>
                <c:pt idx="20">
                  <c:v>18</c:v>
                </c:pt>
                <c:pt idx="21">
                  <c:v>15</c:v>
                </c:pt>
                <c:pt idx="22">
                  <c:v>18</c:v>
                </c:pt>
                <c:pt idx="23">
                  <c:v>14</c:v>
                </c:pt>
                <c:pt idx="24">
                  <c:v>13</c:v>
                </c:pt>
                <c:pt idx="25">
                  <c:v>18</c:v>
                </c:pt>
                <c:pt idx="26">
                  <c:v>5</c:v>
                </c:pt>
                <c:pt idx="27">
                  <c:v>17</c:v>
                </c:pt>
                <c:pt idx="28">
                  <c:v>15</c:v>
                </c:pt>
                <c:pt idx="29">
                  <c:v>7</c:v>
                </c:pt>
                <c:pt idx="30">
                  <c:v>9</c:v>
                </c:pt>
                <c:pt idx="31">
                  <c:v>17</c:v>
                </c:pt>
                <c:pt idx="32">
                  <c:v>15</c:v>
                </c:pt>
                <c:pt idx="33">
                  <c:v>15</c:v>
                </c:pt>
                <c:pt idx="34">
                  <c:v>11</c:v>
                </c:pt>
                <c:pt idx="35">
                  <c:v>12</c:v>
                </c:pt>
                <c:pt idx="36">
                  <c:v>14</c:v>
                </c:pt>
                <c:pt idx="37">
                  <c:v>12</c:v>
                </c:pt>
                <c:pt idx="38">
                  <c:v>7</c:v>
                </c:pt>
                <c:pt idx="39">
                  <c:v>17</c:v>
                </c:pt>
                <c:pt idx="40">
                  <c:v>18</c:v>
                </c:pt>
                <c:pt idx="41">
                  <c:v>16</c:v>
                </c:pt>
                <c:pt idx="42">
                  <c:v>17</c:v>
                </c:pt>
                <c:pt idx="43">
                  <c:v>15</c:v>
                </c:pt>
                <c:pt idx="44">
                  <c:v>15</c:v>
                </c:pt>
                <c:pt idx="45">
                  <c:v>18</c:v>
                </c:pt>
                <c:pt idx="46">
                  <c:v>15</c:v>
                </c:pt>
                <c:pt idx="47">
                  <c:v>14</c:v>
                </c:pt>
                <c:pt idx="48">
                  <c:v>13</c:v>
                </c:pt>
                <c:pt idx="49">
                  <c:v>9</c:v>
                </c:pt>
                <c:pt idx="50">
                  <c:v>17</c:v>
                </c:pt>
                <c:pt idx="51">
                  <c:v>13</c:v>
                </c:pt>
                <c:pt idx="52">
                  <c:v>7</c:v>
                </c:pt>
                <c:pt idx="53">
                  <c:v>16</c:v>
                </c:pt>
                <c:pt idx="54">
                  <c:v>9</c:v>
                </c:pt>
                <c:pt idx="55">
                  <c:v>15</c:v>
                </c:pt>
                <c:pt idx="56">
                  <c:v>15</c:v>
                </c:pt>
                <c:pt idx="57">
                  <c:v>14</c:v>
                </c:pt>
                <c:pt idx="58">
                  <c:v>15</c:v>
                </c:pt>
              </c:numCache>
            </c:numRef>
          </c:val>
          <c:extLst>
            <c:ext xmlns:c16="http://schemas.microsoft.com/office/drawing/2014/chart" uri="{C3380CC4-5D6E-409C-BE32-E72D297353CC}">
              <c16:uniqueId val="{00000000-307C-4771-BE2C-6C44B05F96E3}"/>
            </c:ext>
          </c:extLst>
        </c:ser>
        <c:dLbls>
          <c:dLblPos val="outEnd"/>
          <c:showLegendKey val="0"/>
          <c:showVal val="1"/>
          <c:showCatName val="0"/>
          <c:showSerName val="0"/>
          <c:showPercent val="0"/>
          <c:showBubbleSize val="0"/>
        </c:dLbls>
        <c:gapWidth val="164"/>
        <c:overlap val="-22"/>
        <c:axId val="1234181103"/>
        <c:axId val="1234182543"/>
      </c:barChart>
      <c:catAx>
        <c:axId val="1234181103"/>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4182543"/>
        <c:crosses val="autoZero"/>
        <c:auto val="1"/>
        <c:lblAlgn val="ctr"/>
        <c:lblOffset val="100"/>
        <c:noMultiLvlLbl val="0"/>
      </c:catAx>
      <c:valAx>
        <c:axId val="123418254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41811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'q new proj'!$B$1</c:f>
              <c:strCache>
                <c:ptCount val="1"/>
                <c:pt idx="0">
                  <c:v>total_items_ordered</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 new proj'!$A$2:$A$5</c:f>
              <c:strCache>
                <c:ptCount val="4"/>
                <c:pt idx="0">
                  <c:v>Italian</c:v>
                </c:pt>
                <c:pt idx="1">
                  <c:v>Asian</c:v>
                </c:pt>
                <c:pt idx="2">
                  <c:v>Mexican</c:v>
                </c:pt>
                <c:pt idx="3">
                  <c:v>American</c:v>
                </c:pt>
              </c:strCache>
            </c:strRef>
          </c:cat>
          <c:val>
            <c:numRef>
              <c:f>'q new proj'!$B$2:$B$5</c:f>
              <c:numCache>
                <c:formatCode>General</c:formatCode>
                <c:ptCount val="4"/>
                <c:pt idx="0">
                  <c:v>26</c:v>
                </c:pt>
                <c:pt idx="1">
                  <c:v>17</c:v>
                </c:pt>
                <c:pt idx="2">
                  <c:v>16</c:v>
                </c:pt>
                <c:pt idx="3">
                  <c:v>10</c:v>
                </c:pt>
              </c:numCache>
            </c:numRef>
          </c:val>
          <c:extLst>
            <c:ext xmlns:c16="http://schemas.microsoft.com/office/drawing/2014/chart" uri="{C3380CC4-5D6E-409C-BE32-E72D297353CC}">
              <c16:uniqueId val="{00000000-29A0-42AB-AD64-134A63CCC614}"/>
            </c:ext>
          </c:extLst>
        </c:ser>
        <c:dLbls>
          <c:dLblPos val="outEnd"/>
          <c:showLegendKey val="0"/>
          <c:showVal val="1"/>
          <c:showCatName val="0"/>
          <c:showSerName val="0"/>
          <c:showPercent val="0"/>
          <c:showBubbleSize val="0"/>
        </c:dLbls>
        <c:gapWidth val="219"/>
        <c:overlap val="-27"/>
        <c:axId val="220118447"/>
        <c:axId val="220113647"/>
      </c:barChart>
      <c:catAx>
        <c:axId val="2201184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0113647"/>
        <c:crosses val="autoZero"/>
        <c:auto val="1"/>
        <c:lblAlgn val="ctr"/>
        <c:lblOffset val="100"/>
        <c:noMultiLvlLbl val="0"/>
      </c:catAx>
      <c:valAx>
        <c:axId val="220113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01184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 7.2  proj.csv]q 7.2  proj!PivotTable5</c:name>
    <c:fmtId val="9"/>
  </c:pivotSource>
  <c:chart>
    <c:autoTitleDeleted val="1"/>
    <c:pivotFmts>
      <c:pivotFmt>
        <c:idx val="0"/>
        <c:spPr>
          <a:solidFill>
            <a:schemeClr val="accent6"/>
          </a:solidFill>
          <a:ln>
            <a:noFill/>
          </a:ln>
          <a:effectLst/>
        </c:spPr>
        <c:marker>
          <c:symbol val="circle"/>
          <c:size val="5"/>
          <c:spPr>
            <a:solidFill>
              <a:schemeClr val="accent6"/>
            </a:solidFill>
            <a:ln w="9525">
              <a:solidFill>
                <a:schemeClr val="accent6"/>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 7.2  proj'!$H$4</c:f>
              <c:strCache>
                <c:ptCount val="1"/>
                <c:pt idx="0">
                  <c:v>Total</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 7.2  proj'!$G$5:$G$15</c:f>
              <c:strCache>
                <c:ptCount val="10"/>
                <c:pt idx="0">
                  <c:v>Chicken Parmesan</c:v>
                </c:pt>
                <c:pt idx="1">
                  <c:v>Eggplant Parmesan</c:v>
                </c:pt>
                <c:pt idx="2">
                  <c:v>Korean Beef Bowl</c:v>
                </c:pt>
                <c:pt idx="3">
                  <c:v>Meat Lasagna</c:v>
                </c:pt>
                <c:pt idx="4">
                  <c:v>Mushroom Ravioli</c:v>
                </c:pt>
                <c:pt idx="5">
                  <c:v>Orange Chicken</c:v>
                </c:pt>
                <c:pt idx="6">
                  <c:v>Salmon Roll</c:v>
                </c:pt>
                <c:pt idx="7">
                  <c:v>Spaghetti</c:v>
                </c:pt>
                <c:pt idx="8">
                  <c:v>Spaghetti &amp; Meatballs</c:v>
                </c:pt>
                <c:pt idx="9">
                  <c:v>Steak Burrito</c:v>
                </c:pt>
              </c:strCache>
            </c:strRef>
          </c:cat>
          <c:val>
            <c:numRef>
              <c:f>'q 7.2  proj'!$H$5:$H$15</c:f>
              <c:numCache>
                <c:formatCode>General</c:formatCode>
                <c:ptCount val="10"/>
                <c:pt idx="0">
                  <c:v>54</c:v>
                </c:pt>
                <c:pt idx="1">
                  <c:v>68</c:v>
                </c:pt>
                <c:pt idx="2">
                  <c:v>36</c:v>
                </c:pt>
                <c:pt idx="3">
                  <c:v>36</c:v>
                </c:pt>
                <c:pt idx="4">
                  <c:v>32</c:v>
                </c:pt>
                <c:pt idx="5">
                  <c:v>51</c:v>
                </c:pt>
                <c:pt idx="6">
                  <c:v>60</c:v>
                </c:pt>
                <c:pt idx="7">
                  <c:v>60</c:v>
                </c:pt>
                <c:pt idx="8">
                  <c:v>54</c:v>
                </c:pt>
                <c:pt idx="9">
                  <c:v>45</c:v>
                </c:pt>
              </c:numCache>
            </c:numRef>
          </c:val>
          <c:extLst>
            <c:ext xmlns:c16="http://schemas.microsoft.com/office/drawing/2014/chart" uri="{C3380CC4-5D6E-409C-BE32-E72D297353CC}">
              <c16:uniqueId val="{00000000-F46C-42DB-B4FE-EBE79A062674}"/>
            </c:ext>
          </c:extLst>
        </c:ser>
        <c:dLbls>
          <c:dLblPos val="outEnd"/>
          <c:showLegendKey val="0"/>
          <c:showVal val="1"/>
          <c:showCatName val="0"/>
          <c:showSerName val="0"/>
          <c:showPercent val="0"/>
          <c:showBubbleSize val="0"/>
        </c:dLbls>
        <c:gapWidth val="219"/>
        <c:axId val="1410881471"/>
        <c:axId val="1410882911"/>
      </c:barChart>
      <c:catAx>
        <c:axId val="14108814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0882911"/>
        <c:crosses val="autoZero"/>
        <c:auto val="1"/>
        <c:lblAlgn val="ctr"/>
        <c:lblOffset val="100"/>
        <c:noMultiLvlLbl val="0"/>
      </c:catAx>
      <c:valAx>
        <c:axId val="1410882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08814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'q 7.2  new proj'!$B$1</c:f>
              <c:strCache>
                <c:ptCount val="1"/>
                <c:pt idx="0">
                  <c:v>number_of_items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53A8-4BFB-816E-EBFB12115F53}"/>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53A8-4BFB-816E-EBFB12115F53}"/>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53A8-4BFB-816E-EBFB12115F53}"/>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53A8-4BFB-816E-EBFB12115F53}"/>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'q 7.2  new proj'!$A$2:$A$5</c:f>
              <c:strCache>
                <c:ptCount val="4"/>
                <c:pt idx="0">
                  <c:v>Italian</c:v>
                </c:pt>
                <c:pt idx="1">
                  <c:v>Asian</c:v>
                </c:pt>
                <c:pt idx="2">
                  <c:v>Mexican</c:v>
                </c:pt>
                <c:pt idx="3">
                  <c:v>American</c:v>
                </c:pt>
              </c:strCache>
            </c:strRef>
          </c:cat>
          <c:val>
            <c:numRef>
              <c:f>'q 7.2  new proj'!$B$2:$B$5</c:f>
              <c:numCache>
                <c:formatCode>General</c:formatCode>
                <c:ptCount val="4"/>
                <c:pt idx="0">
                  <c:v>26</c:v>
                </c:pt>
                <c:pt idx="1">
                  <c:v>17</c:v>
                </c:pt>
                <c:pt idx="2">
                  <c:v>16</c:v>
                </c:pt>
                <c:pt idx="3">
                  <c:v>10</c:v>
                </c:pt>
              </c:numCache>
            </c:numRef>
          </c:val>
          <c:extLst>
            <c:ext xmlns:c16="http://schemas.microsoft.com/office/drawing/2014/chart" uri="{C3380CC4-5D6E-409C-BE32-E72D297353CC}">
              <c16:uniqueId val="{00000008-53A8-4BFB-816E-EBFB12115F53}"/>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0.12543189087998266"/>
          <c:y val="7.407407407407407E-2"/>
          <c:w val="0.85836721807100969"/>
          <c:h val="0.8416746864975212"/>
        </c:manualLayout>
      </c:layout>
      <c:barChart>
        <c:barDir val="col"/>
        <c:grouping val="clustered"/>
        <c:varyColors val="0"/>
        <c:ser>
          <c:idx val="0"/>
          <c:order val="0"/>
          <c:tx>
            <c:strRef>
              <c:f>'q 9 new proj'!$B$1</c:f>
              <c:strCache>
                <c:ptCount val="1"/>
                <c:pt idx="0">
                  <c:v>total_menu_items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 9 new proj'!$A$2:$A$5</c:f>
              <c:strCache>
                <c:ptCount val="4"/>
                <c:pt idx="0">
                  <c:v>Mexican</c:v>
                </c:pt>
                <c:pt idx="1">
                  <c:v>Italian</c:v>
                </c:pt>
                <c:pt idx="2">
                  <c:v>Asian</c:v>
                </c:pt>
                <c:pt idx="3">
                  <c:v>American</c:v>
                </c:pt>
              </c:strCache>
            </c:strRef>
          </c:cat>
          <c:val>
            <c:numRef>
              <c:f>'q 9 new proj'!$B$2:$B$5</c:f>
              <c:numCache>
                <c:formatCode>General</c:formatCode>
                <c:ptCount val="4"/>
                <c:pt idx="0">
                  <c:v>9</c:v>
                </c:pt>
                <c:pt idx="1">
                  <c:v>9</c:v>
                </c:pt>
                <c:pt idx="2">
                  <c:v>8</c:v>
                </c:pt>
                <c:pt idx="3">
                  <c:v>6</c:v>
                </c:pt>
              </c:numCache>
            </c:numRef>
          </c:val>
          <c:extLst>
            <c:ext xmlns:c16="http://schemas.microsoft.com/office/drawing/2014/chart" uri="{C3380CC4-5D6E-409C-BE32-E72D297353CC}">
              <c16:uniqueId val="{00000000-E7BE-4457-84AB-8839504F2235}"/>
            </c:ext>
          </c:extLst>
        </c:ser>
        <c:dLbls>
          <c:dLblPos val="outEnd"/>
          <c:showLegendKey val="0"/>
          <c:showVal val="1"/>
          <c:showCatName val="0"/>
          <c:showSerName val="0"/>
          <c:showPercent val="0"/>
          <c:showBubbleSize val="0"/>
        </c:dLbls>
        <c:gapWidth val="219"/>
        <c:overlap val="-27"/>
        <c:axId val="7222575"/>
        <c:axId val="7229295"/>
      </c:barChart>
      <c:catAx>
        <c:axId val="7222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29295"/>
        <c:crosses val="autoZero"/>
        <c:auto val="1"/>
        <c:lblAlgn val="ctr"/>
        <c:lblOffset val="100"/>
        <c:noMultiLvlLbl val="0"/>
      </c:catAx>
      <c:valAx>
        <c:axId val="72292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225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'q 11 new proj'!$B$1</c:f>
              <c:strCache>
                <c:ptCount val="1"/>
                <c:pt idx="0">
                  <c:v>total_number_of_orders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 11 new proj'!$A$2:$A$5</c:f>
              <c:strCache>
                <c:ptCount val="4"/>
                <c:pt idx="0">
                  <c:v>Asian</c:v>
                </c:pt>
                <c:pt idx="1">
                  <c:v>Italian</c:v>
                </c:pt>
                <c:pt idx="2">
                  <c:v>Mexican</c:v>
                </c:pt>
                <c:pt idx="3">
                  <c:v>American</c:v>
                </c:pt>
              </c:strCache>
            </c:strRef>
          </c:cat>
          <c:val>
            <c:numRef>
              <c:f>'q 11 new proj'!$B$2:$B$5</c:f>
              <c:numCache>
                <c:formatCode>General</c:formatCode>
                <c:ptCount val="4"/>
                <c:pt idx="0">
                  <c:v>3470</c:v>
                </c:pt>
                <c:pt idx="1">
                  <c:v>2948</c:v>
                </c:pt>
                <c:pt idx="2">
                  <c:v>2945</c:v>
                </c:pt>
                <c:pt idx="3">
                  <c:v>2734</c:v>
                </c:pt>
              </c:numCache>
            </c:numRef>
          </c:val>
          <c:extLst>
            <c:ext xmlns:c16="http://schemas.microsoft.com/office/drawing/2014/chart" uri="{C3380CC4-5D6E-409C-BE32-E72D297353CC}">
              <c16:uniqueId val="{00000000-93BB-4A79-AEB4-12BA995D5218}"/>
            </c:ext>
          </c:extLst>
        </c:ser>
        <c:dLbls>
          <c:dLblPos val="outEnd"/>
          <c:showLegendKey val="0"/>
          <c:showVal val="1"/>
          <c:showCatName val="0"/>
          <c:showSerName val="0"/>
          <c:showPercent val="0"/>
          <c:showBubbleSize val="0"/>
        </c:dLbls>
        <c:gapWidth val="219"/>
        <c:overlap val="-27"/>
        <c:axId val="7213935"/>
        <c:axId val="7216815"/>
      </c:barChart>
      <c:catAx>
        <c:axId val="7213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6815"/>
        <c:crosses val="autoZero"/>
        <c:auto val="1"/>
        <c:lblAlgn val="ctr"/>
        <c:lblOffset val="100"/>
        <c:noMultiLvlLbl val="0"/>
      </c:catAx>
      <c:valAx>
        <c:axId val="7216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3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'q 10 new proj'!$B$1</c:f>
              <c:strCache>
                <c:ptCount val="1"/>
                <c:pt idx="0">
                  <c:v>total_revenue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 10 new proj'!$A$2:$A$5</c:f>
              <c:strCache>
                <c:ptCount val="4"/>
                <c:pt idx="0">
                  <c:v>Italian</c:v>
                </c:pt>
                <c:pt idx="1">
                  <c:v>Asian</c:v>
                </c:pt>
                <c:pt idx="2">
                  <c:v>Mexican</c:v>
                </c:pt>
                <c:pt idx="3">
                  <c:v>American</c:v>
                </c:pt>
              </c:strCache>
            </c:strRef>
          </c:cat>
          <c:val>
            <c:numRef>
              <c:f>'q 10 new proj'!$B$2:$B$5</c:f>
              <c:numCache>
                <c:formatCode>General</c:formatCode>
                <c:ptCount val="4"/>
                <c:pt idx="0">
                  <c:v>50142</c:v>
                </c:pt>
                <c:pt idx="1">
                  <c:v>47311</c:v>
                </c:pt>
                <c:pt idx="2">
                  <c:v>35014</c:v>
                </c:pt>
                <c:pt idx="3">
                  <c:v>28417</c:v>
                </c:pt>
              </c:numCache>
            </c:numRef>
          </c:val>
          <c:extLst>
            <c:ext xmlns:c16="http://schemas.microsoft.com/office/drawing/2014/chart" uri="{C3380CC4-5D6E-409C-BE32-E72D297353CC}">
              <c16:uniqueId val="{00000000-AB09-489C-9C34-832C7A65B11D}"/>
            </c:ext>
          </c:extLst>
        </c:ser>
        <c:dLbls>
          <c:dLblPos val="outEnd"/>
          <c:showLegendKey val="0"/>
          <c:showVal val="1"/>
          <c:showCatName val="0"/>
          <c:showSerName val="0"/>
          <c:showPercent val="0"/>
          <c:showBubbleSize val="0"/>
        </c:dLbls>
        <c:gapWidth val="219"/>
        <c:overlap val="-27"/>
        <c:axId val="7217775"/>
        <c:axId val="7235055"/>
      </c:barChart>
      <c:catAx>
        <c:axId val="72177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35055"/>
        <c:crosses val="autoZero"/>
        <c:auto val="1"/>
        <c:lblAlgn val="ctr"/>
        <c:lblOffset val="100"/>
        <c:noMultiLvlLbl val="0"/>
      </c:catAx>
      <c:valAx>
        <c:axId val="72350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17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Reversed" id="22">
  <a:schemeClr val="accent2"/>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 id="15">
  <a:schemeClr val="accent2"/>
</cs:colorStyle>
</file>

<file path=ppt/charts/colors11.xml><?xml version="1.0" encoding="utf-8"?>
<cs:colorStyle xmlns:cs="http://schemas.microsoft.com/office/drawing/2012/chartStyle" xmlns:a="http://schemas.openxmlformats.org/drawingml/2006/main" meth="withinLinear" id="15">
  <a:schemeClr val="accent2"/>
</cs:colorStyle>
</file>

<file path=ppt/charts/colors12.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C2E84-E6B0-40F9-AE87-483E219B1E3B}" type="datetimeFigureOut">
              <a:rPr lang="en-IN" smtClean="0"/>
              <a:t>08-02-2026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C5AB-46C9-4BA2-80FE-6024B133A3D7}" type="slidenum">
              <a:rPr lang="en-IN" smtClean="0"/>
              <a:t>‹#›</a:t>
            </a:fld>
            <a:endParaRPr lang="en-IN"/>
          </a:p>
        </p:txBody>
      </p:sp>
    </p:spTree>
    <p:extLst>
      <p:ext uri="{BB962C8B-B14F-4D97-AF65-F5344CB8AC3E}">
        <p14:creationId xmlns:p14="http://schemas.microsoft.com/office/powerpoint/2010/main" val="466391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29B6A-A7AB-8B97-51CA-0CAB3EA177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A17D11-FF04-1DD9-1E9D-6C116EB353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84C599-8CBE-08F4-04A6-DB5B9E8CF335}"/>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5" name="Footer Placeholder 4">
            <a:extLst>
              <a:ext uri="{FF2B5EF4-FFF2-40B4-BE49-F238E27FC236}">
                <a16:creationId xmlns:a16="http://schemas.microsoft.com/office/drawing/2014/main" id="{9B59E174-3E20-FCE2-F417-69BD8F2580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C86694-B49A-B2C9-4079-6B7044C910D6}"/>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3146101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60212-87F3-6B0C-B253-EBF24D8A9B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FBAE30-4683-0F62-228A-C96507444E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5E9453-62E1-D20A-D438-F7905A7A3111}"/>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5" name="Footer Placeholder 4">
            <a:extLst>
              <a:ext uri="{FF2B5EF4-FFF2-40B4-BE49-F238E27FC236}">
                <a16:creationId xmlns:a16="http://schemas.microsoft.com/office/drawing/2014/main" id="{F1735DE7-16FE-AD83-D14A-6F0041CDEF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0337AF-6DE6-BA1A-D062-14E286590DA3}"/>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978392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C73A-5054-32F5-8447-E2D43E8955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1CDB8C-A556-4E1E-8D71-140FEBDE57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EB52CD-E24F-A25A-467F-72166253140C}"/>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5" name="Footer Placeholder 4">
            <a:extLst>
              <a:ext uri="{FF2B5EF4-FFF2-40B4-BE49-F238E27FC236}">
                <a16:creationId xmlns:a16="http://schemas.microsoft.com/office/drawing/2014/main" id="{F46FAAF2-25E1-50D0-24E0-F0F3027FD7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CF7BCF-993C-960D-0A5A-C876EE440BC7}"/>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46831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1812-197C-D723-3E87-6764827628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1BA1EA-EB70-57F5-4221-1F1309ACE5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AE616F-8F1F-7486-2633-55CA953D14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561E1A-D9E5-C35D-37A6-A7ABFB009D50}"/>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6" name="Footer Placeholder 5">
            <a:extLst>
              <a:ext uri="{FF2B5EF4-FFF2-40B4-BE49-F238E27FC236}">
                <a16:creationId xmlns:a16="http://schemas.microsoft.com/office/drawing/2014/main" id="{26AAE386-316D-2493-F9CB-9DE111F1F6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BD3DE0-2EE2-2450-6E6B-AD4C8BFBC479}"/>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133567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9571F-985D-B51F-3BC7-41AD7D3ED6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CCA4E1-E2A5-ECCA-07E7-BA187967E9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418ADD-1B19-B1E8-FA7B-4F9B2CD8E7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FE5032-556C-602A-BC22-C0456B4559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E45AE1-9CA7-65E1-F151-B79CD8AD5A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0D39C1-B9AC-7683-6C27-2D81D44C0737}"/>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8" name="Footer Placeholder 7">
            <a:extLst>
              <a:ext uri="{FF2B5EF4-FFF2-40B4-BE49-F238E27FC236}">
                <a16:creationId xmlns:a16="http://schemas.microsoft.com/office/drawing/2014/main" id="{6E456D09-BC5A-966C-C8F9-2F0561DBE0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636CF18-A00C-9A52-F593-8B86AAF467E6}"/>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2339785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76D1B-DE44-7BDA-0B56-5360D23B91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505F17-1052-809A-9BDA-AAE465A66032}"/>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4" name="Footer Placeholder 3">
            <a:extLst>
              <a:ext uri="{FF2B5EF4-FFF2-40B4-BE49-F238E27FC236}">
                <a16:creationId xmlns:a16="http://schemas.microsoft.com/office/drawing/2014/main" id="{3214B6E8-2D50-C675-0411-CCB3F4ED62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51ADA0-0FE4-D963-0B74-144C71F65F88}"/>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602243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B2C222-F38D-100C-A63C-00432457C90C}"/>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3" name="Footer Placeholder 2">
            <a:extLst>
              <a:ext uri="{FF2B5EF4-FFF2-40B4-BE49-F238E27FC236}">
                <a16:creationId xmlns:a16="http://schemas.microsoft.com/office/drawing/2014/main" id="{5EC6B3FB-B982-B565-6C10-B37E17A7542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3A94CD-5F25-301F-5B5D-38986F27868C}"/>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103786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1FFB-9A7B-EECA-A5EF-79DBD23D5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06D9741-2857-E7FC-E1A4-D9B6B017E9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3A0990-4F34-97FC-4F34-B4CD09AE7A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8DEC4-2B12-342E-BCD8-156A70F3E6AD}"/>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6" name="Footer Placeholder 5">
            <a:extLst>
              <a:ext uri="{FF2B5EF4-FFF2-40B4-BE49-F238E27FC236}">
                <a16:creationId xmlns:a16="http://schemas.microsoft.com/office/drawing/2014/main" id="{5D66BE74-B953-C185-1734-D2FDDC08AA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517501-41D7-E62F-C687-F539FC990415}"/>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3361785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CE53-A858-9BFB-499E-E3685A4EE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705189-4CEF-A22F-430A-20692260BE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CBDDA8-477D-4F17-6747-564DA9EFC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A7DA9-33B4-538C-0D86-56100C9B00AD}"/>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6" name="Footer Placeholder 5">
            <a:extLst>
              <a:ext uri="{FF2B5EF4-FFF2-40B4-BE49-F238E27FC236}">
                <a16:creationId xmlns:a16="http://schemas.microsoft.com/office/drawing/2014/main" id="{04EF1E62-58C2-C06E-6322-84EC9D32AD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56E5B7-D282-32F2-B4E9-B0D9D13C4595}"/>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351902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714C-B71C-270A-1E59-263CBF6B7C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B49DC4-03E8-30D5-76E9-9FBFB4C76B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8E724D-E609-0DEF-945B-A58888B3D97A}"/>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5" name="Footer Placeholder 4">
            <a:extLst>
              <a:ext uri="{FF2B5EF4-FFF2-40B4-BE49-F238E27FC236}">
                <a16:creationId xmlns:a16="http://schemas.microsoft.com/office/drawing/2014/main" id="{04214375-999C-E187-D71C-99F7398416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1F7D2C-264B-7208-9E29-F9D6603B414D}"/>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4193762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7ED195-7DD8-3709-C04B-C196749937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5ECCF4-32BD-245C-3BD0-9AEEC10CF5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0D5088-1E60-9E26-60B3-0FA042CC7F8E}"/>
              </a:ext>
            </a:extLst>
          </p:cNvPr>
          <p:cNvSpPr>
            <a:spLocks noGrp="1"/>
          </p:cNvSpPr>
          <p:nvPr>
            <p:ph type="dt" sz="half" idx="10"/>
          </p:nvPr>
        </p:nvSpPr>
        <p:spPr/>
        <p:txBody>
          <a:bodyPr/>
          <a:lstStyle/>
          <a:p>
            <a:fld id="{B874DDC3-ED4D-48C7-8DCA-51913F345488}" type="datetimeFigureOut">
              <a:rPr lang="en-IN" smtClean="0"/>
              <a:t>08-02-2026</a:t>
            </a:fld>
            <a:endParaRPr lang="en-IN"/>
          </a:p>
        </p:txBody>
      </p:sp>
      <p:sp>
        <p:nvSpPr>
          <p:cNvPr id="5" name="Footer Placeholder 4">
            <a:extLst>
              <a:ext uri="{FF2B5EF4-FFF2-40B4-BE49-F238E27FC236}">
                <a16:creationId xmlns:a16="http://schemas.microsoft.com/office/drawing/2014/main" id="{5D90ABF6-DE2D-E953-FC15-8366901DC5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730B05-7CAD-66CC-059E-D3CE66C88D4A}"/>
              </a:ext>
            </a:extLst>
          </p:cNvPr>
          <p:cNvSpPr>
            <a:spLocks noGrp="1"/>
          </p:cNvSpPr>
          <p:nvPr>
            <p:ph type="sldNum" sz="quarter" idx="12"/>
          </p:nvPr>
        </p:nvSpPr>
        <p:spPr/>
        <p:txBody>
          <a:bodyPr/>
          <a:lstStyle/>
          <a:p>
            <a:fld id="{BF16404B-3253-497C-A892-2FED5951C0F5}" type="slidenum">
              <a:rPr lang="en-IN" smtClean="0"/>
              <a:t>‹#›</a:t>
            </a:fld>
            <a:endParaRPr lang="en-IN"/>
          </a:p>
        </p:txBody>
      </p:sp>
    </p:spTree>
    <p:extLst>
      <p:ext uri="{BB962C8B-B14F-4D97-AF65-F5344CB8AC3E}">
        <p14:creationId xmlns:p14="http://schemas.microsoft.com/office/powerpoint/2010/main" val="572929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103C11-FC16-F8D1-4885-039DE23A0E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8B2E98-299C-FE93-DC0B-7F7DDCD7D6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6347CA-930D-2764-E6D5-A46FF8118F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74DDC3-ED4D-48C7-8DCA-51913F345488}" type="datetimeFigureOut">
              <a:rPr lang="en-IN" smtClean="0"/>
              <a:t>08-02-2026</a:t>
            </a:fld>
            <a:endParaRPr lang="en-IN"/>
          </a:p>
        </p:txBody>
      </p:sp>
      <p:sp>
        <p:nvSpPr>
          <p:cNvPr id="5" name="Footer Placeholder 4">
            <a:extLst>
              <a:ext uri="{FF2B5EF4-FFF2-40B4-BE49-F238E27FC236}">
                <a16:creationId xmlns:a16="http://schemas.microsoft.com/office/drawing/2014/main" id="{202BA9E6-2F72-2078-7728-E343E25422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06BF5A-0948-F40D-1CAD-51C00AEA9C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16404B-3253-497C-A892-2FED5951C0F5}" type="slidenum">
              <a:rPr lang="en-IN" smtClean="0"/>
              <a:t>‹#›</a:t>
            </a:fld>
            <a:endParaRPr lang="en-IN"/>
          </a:p>
        </p:txBody>
      </p:sp>
    </p:spTree>
    <p:extLst>
      <p:ext uri="{BB962C8B-B14F-4D97-AF65-F5344CB8AC3E}">
        <p14:creationId xmlns:p14="http://schemas.microsoft.com/office/powerpoint/2010/main" val="337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7.xml"/><Relationship Id="rId4" Type="http://schemas.openxmlformats.org/officeDocument/2006/relationships/chart" Target="../charts/char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E476808-9B8F-1248-7313-77905B1E983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D4D52B6-433C-D5AB-C369-02E187F6A0AD}"/>
              </a:ext>
            </a:extLst>
          </p:cNvPr>
          <p:cNvSpPr/>
          <p:nvPr/>
        </p:nvSpPr>
        <p:spPr>
          <a:xfrm>
            <a:off x="0" y="1"/>
            <a:ext cx="6962775" cy="672034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accent2">
                    <a:lumMod val="75000"/>
                  </a:schemeClr>
                </a:solidFill>
                <a:latin typeface="Bernard MT Condensed" panose="02050806060905020404" pitchFamily="18" charset="0"/>
              </a:rPr>
              <a:t>RESTAURANT</a:t>
            </a:r>
            <a:r>
              <a:rPr lang="en-US" sz="6600" dirty="0">
                <a:solidFill>
                  <a:schemeClr val="accent6"/>
                </a:solidFill>
                <a:latin typeface="Bernard MT Condensed" panose="02050806060905020404" pitchFamily="18" charset="0"/>
              </a:rPr>
              <a:t> </a:t>
            </a:r>
            <a:r>
              <a:rPr lang="en-US" sz="6600" dirty="0">
                <a:solidFill>
                  <a:schemeClr val="accent2">
                    <a:lumMod val="75000"/>
                  </a:schemeClr>
                </a:solidFill>
                <a:latin typeface="Bernard MT Condensed" panose="02050806060905020404" pitchFamily="18" charset="0"/>
              </a:rPr>
              <a:t>ORDER</a:t>
            </a:r>
            <a:r>
              <a:rPr lang="en-US" sz="6600" dirty="0">
                <a:solidFill>
                  <a:schemeClr val="accent6"/>
                </a:solidFill>
                <a:latin typeface="Bernard MT Condensed" panose="02050806060905020404" pitchFamily="18" charset="0"/>
              </a:rPr>
              <a:t> </a:t>
            </a:r>
            <a:r>
              <a:rPr lang="en-US" sz="6600" dirty="0">
                <a:solidFill>
                  <a:schemeClr val="accent2">
                    <a:lumMod val="75000"/>
                  </a:schemeClr>
                </a:solidFill>
                <a:latin typeface="Bernard MT Condensed" panose="02050806060905020404" pitchFamily="18" charset="0"/>
              </a:rPr>
              <a:t>ANALYSIS</a:t>
            </a:r>
          </a:p>
          <a:p>
            <a:pPr algn="ctr"/>
            <a:endParaRPr lang="en-US" sz="1200" dirty="0">
              <a:solidFill>
                <a:schemeClr val="accent2">
                  <a:lumMod val="75000"/>
                </a:schemeClr>
              </a:solidFill>
              <a:latin typeface="Bernard MT Condensed" panose="02050806060905020404" pitchFamily="18" charset="0"/>
            </a:endParaRPr>
          </a:p>
        </p:txBody>
      </p:sp>
      <p:pic>
        <p:nvPicPr>
          <p:cNvPr id="4" name="Picture 3">
            <a:extLst>
              <a:ext uri="{FF2B5EF4-FFF2-40B4-BE49-F238E27FC236}">
                <a16:creationId xmlns:a16="http://schemas.microsoft.com/office/drawing/2014/main" id="{50E746F9-39D6-3C09-A03F-86941B43C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2775" y="0"/>
            <a:ext cx="5229225" cy="6720350"/>
          </a:xfrm>
          <a:prstGeom prst="rect">
            <a:avLst/>
          </a:prstGeom>
        </p:spPr>
      </p:pic>
      <p:cxnSp>
        <p:nvCxnSpPr>
          <p:cNvPr id="3" name="Straight Connector 2">
            <a:extLst>
              <a:ext uri="{FF2B5EF4-FFF2-40B4-BE49-F238E27FC236}">
                <a16:creationId xmlns:a16="http://schemas.microsoft.com/office/drawing/2014/main" id="{D8520E3B-416D-9E74-A19A-4CE71768C3D3}"/>
              </a:ext>
            </a:extLst>
          </p:cNvPr>
          <p:cNvCxnSpPr>
            <a:cxnSpLocks/>
          </p:cNvCxnSpPr>
          <p:nvPr/>
        </p:nvCxnSpPr>
        <p:spPr>
          <a:xfrm>
            <a:off x="0" y="4768645"/>
            <a:ext cx="696277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84F85F1-26A6-4F5F-182E-C6478F0D1772}"/>
              </a:ext>
            </a:extLst>
          </p:cNvPr>
          <p:cNvSpPr/>
          <p:nvPr/>
        </p:nvSpPr>
        <p:spPr>
          <a:xfrm>
            <a:off x="4159045" y="4807988"/>
            <a:ext cx="2703871" cy="412928"/>
          </a:xfrm>
          <a:prstGeom prst="rect">
            <a:avLst/>
          </a:prstGeom>
          <a:solidFill>
            <a:schemeClr val="accent1">
              <a:lumMod val="60000"/>
              <a:lumOff val="4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3">
                    <a:lumMod val="75000"/>
                  </a:schemeClr>
                </a:solidFill>
              </a:rPr>
              <a:t>By  Ayantika Chowdhury</a:t>
            </a:r>
            <a:endParaRPr lang="en-IN" dirty="0">
              <a:solidFill>
                <a:schemeClr val="accent3">
                  <a:lumMod val="75000"/>
                </a:schemeClr>
              </a:solidFill>
            </a:endParaRPr>
          </a:p>
        </p:txBody>
      </p:sp>
    </p:spTree>
    <p:extLst>
      <p:ext uri="{BB962C8B-B14F-4D97-AF65-F5344CB8AC3E}">
        <p14:creationId xmlns:p14="http://schemas.microsoft.com/office/powerpoint/2010/main" val="233494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799B0E7-6ECB-C5B6-0587-10E0248B05C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17ECD18-9D5A-4E44-31EA-7F1980B63735}"/>
              </a:ext>
            </a:extLst>
          </p:cNvPr>
          <p:cNvSpPr/>
          <p:nvPr/>
        </p:nvSpPr>
        <p:spPr>
          <a:xfrm>
            <a:off x="2733367" y="432619"/>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 Table of contents</a:t>
            </a:r>
          </a:p>
        </p:txBody>
      </p:sp>
      <p:sp>
        <p:nvSpPr>
          <p:cNvPr id="12" name="Rectangle 11">
            <a:extLst>
              <a:ext uri="{FF2B5EF4-FFF2-40B4-BE49-F238E27FC236}">
                <a16:creationId xmlns:a16="http://schemas.microsoft.com/office/drawing/2014/main" id="{43D01ACD-3B28-887B-F75A-079A3147D67D}"/>
              </a:ext>
            </a:extLst>
          </p:cNvPr>
          <p:cNvSpPr/>
          <p:nvPr/>
        </p:nvSpPr>
        <p:spPr>
          <a:xfrm>
            <a:off x="1897626" y="1966452"/>
            <a:ext cx="8396749" cy="35789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sz="3600" dirty="0">
                <a:solidFill>
                  <a:schemeClr val="accent1">
                    <a:lumMod val="50000"/>
                  </a:schemeClr>
                </a:solidFill>
              </a:rPr>
              <a:t>Introduction</a:t>
            </a:r>
          </a:p>
          <a:p>
            <a:pPr marL="342900" indent="-342900">
              <a:buAutoNum type="arabicPeriod"/>
            </a:pPr>
            <a:r>
              <a:rPr lang="en-US" sz="3600" dirty="0">
                <a:solidFill>
                  <a:schemeClr val="accent1">
                    <a:lumMod val="50000"/>
                  </a:schemeClr>
                </a:solidFill>
              </a:rPr>
              <a:t>Objectives</a:t>
            </a:r>
          </a:p>
          <a:p>
            <a:pPr marL="342900" indent="-342900">
              <a:buAutoNum type="arabicPeriod"/>
            </a:pPr>
            <a:r>
              <a:rPr lang="en-US" sz="3600" dirty="0">
                <a:solidFill>
                  <a:schemeClr val="accent1">
                    <a:lumMod val="50000"/>
                  </a:schemeClr>
                </a:solidFill>
              </a:rPr>
              <a:t>Data Analysis</a:t>
            </a:r>
          </a:p>
          <a:p>
            <a:pPr marL="342900" indent="-342900">
              <a:buAutoNum type="arabicPeriod"/>
            </a:pPr>
            <a:r>
              <a:rPr lang="en-US" sz="3600" dirty="0">
                <a:solidFill>
                  <a:schemeClr val="accent1">
                    <a:lumMod val="50000"/>
                  </a:schemeClr>
                </a:solidFill>
              </a:rPr>
              <a:t>Insights and recommendations</a:t>
            </a:r>
            <a:endParaRPr lang="en-IN" sz="3600" dirty="0">
              <a:solidFill>
                <a:schemeClr val="accent1">
                  <a:lumMod val="50000"/>
                </a:schemeClr>
              </a:solidFill>
            </a:endParaRPr>
          </a:p>
        </p:txBody>
      </p:sp>
    </p:spTree>
    <p:extLst>
      <p:ext uri="{BB962C8B-B14F-4D97-AF65-F5344CB8AC3E}">
        <p14:creationId xmlns:p14="http://schemas.microsoft.com/office/powerpoint/2010/main" val="268830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A24CD-FC5B-6713-6745-C4532F5DD68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84038FC-FDF4-DD06-6116-0BD926270C66}"/>
              </a:ext>
            </a:extLst>
          </p:cNvPr>
          <p:cNvSpPr/>
          <p:nvPr/>
        </p:nvSpPr>
        <p:spPr>
          <a:xfrm>
            <a:off x="0" y="0"/>
            <a:ext cx="6962775" cy="685799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accent2">
                    <a:lumMod val="75000"/>
                  </a:schemeClr>
                </a:solidFill>
                <a:latin typeface="Bernard MT Condensed" panose="02050806060905020404" pitchFamily="18" charset="0"/>
              </a:rPr>
              <a:t>INTRODUCTION</a:t>
            </a:r>
          </a:p>
          <a:p>
            <a:pPr algn="ctr"/>
            <a:endParaRPr lang="en-US" sz="1200" dirty="0">
              <a:solidFill>
                <a:schemeClr val="accent2">
                  <a:lumMod val="75000"/>
                </a:schemeClr>
              </a:solidFill>
              <a:latin typeface="Bernard MT Condensed" panose="02050806060905020404" pitchFamily="18" charset="0"/>
            </a:endParaRPr>
          </a:p>
        </p:txBody>
      </p:sp>
      <p:cxnSp>
        <p:nvCxnSpPr>
          <p:cNvPr id="3" name="Straight Connector 2">
            <a:extLst>
              <a:ext uri="{FF2B5EF4-FFF2-40B4-BE49-F238E27FC236}">
                <a16:creationId xmlns:a16="http://schemas.microsoft.com/office/drawing/2014/main" id="{E5DE71E1-93CF-0765-73C2-2929324F2ACD}"/>
              </a:ext>
            </a:extLst>
          </p:cNvPr>
          <p:cNvCxnSpPr>
            <a:cxnSpLocks/>
          </p:cNvCxnSpPr>
          <p:nvPr/>
        </p:nvCxnSpPr>
        <p:spPr>
          <a:xfrm>
            <a:off x="6962775" y="4768645"/>
            <a:ext cx="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319807F-E7B8-A151-11DC-4326391D1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148386" y="814383"/>
            <a:ext cx="6858002" cy="5229224"/>
          </a:xfrm>
          <a:prstGeom prst="rect">
            <a:avLst/>
          </a:prstGeom>
        </p:spPr>
      </p:pic>
    </p:spTree>
    <p:extLst>
      <p:ext uri="{BB962C8B-B14F-4D97-AF65-F5344CB8AC3E}">
        <p14:creationId xmlns:p14="http://schemas.microsoft.com/office/powerpoint/2010/main" val="1207696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FF268B-5A31-D3E0-1E94-EBC76EF8386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AC9009F-1A24-AAF6-779B-9FABF95E749A}"/>
              </a:ext>
            </a:extLst>
          </p:cNvPr>
          <p:cNvSpPr/>
          <p:nvPr/>
        </p:nvSpPr>
        <p:spPr>
          <a:xfrm>
            <a:off x="2733367" y="432619"/>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2400" dirty="0"/>
              <a:t>Introduction</a:t>
            </a:r>
          </a:p>
        </p:txBody>
      </p:sp>
      <p:sp>
        <p:nvSpPr>
          <p:cNvPr id="12" name="Rectangle 11">
            <a:extLst>
              <a:ext uri="{FF2B5EF4-FFF2-40B4-BE49-F238E27FC236}">
                <a16:creationId xmlns:a16="http://schemas.microsoft.com/office/drawing/2014/main" id="{42291FCD-50E4-CD03-274A-9B4FFA12B687}"/>
              </a:ext>
            </a:extLst>
          </p:cNvPr>
          <p:cNvSpPr/>
          <p:nvPr/>
        </p:nvSpPr>
        <p:spPr>
          <a:xfrm>
            <a:off x="909484" y="1553497"/>
            <a:ext cx="10373032" cy="4945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1">
                    <a:lumMod val="50000"/>
                  </a:schemeClr>
                </a:solidFill>
              </a:rPr>
              <a:t>This project analyzes a restaurant order </a:t>
            </a:r>
            <a:r>
              <a:rPr lang="en-US" dirty="0" err="1">
                <a:solidFill>
                  <a:schemeClr val="accent1">
                    <a:lumMod val="50000"/>
                  </a:schemeClr>
                </a:solidFill>
              </a:rPr>
              <a:t>datset</a:t>
            </a:r>
            <a:r>
              <a:rPr lang="en-US" dirty="0">
                <a:solidFill>
                  <a:schemeClr val="accent1">
                    <a:lumMod val="50000"/>
                  </a:schemeClr>
                </a:solidFill>
              </a:rPr>
              <a:t>. It includes two tables:</a:t>
            </a:r>
          </a:p>
          <a:p>
            <a:endParaRPr lang="en-US" dirty="0">
              <a:solidFill>
                <a:schemeClr val="accent1">
                  <a:lumMod val="50000"/>
                </a:schemeClr>
              </a:solidFill>
            </a:endParaRPr>
          </a:p>
          <a:p>
            <a:r>
              <a:rPr lang="en-US" dirty="0">
                <a:solidFill>
                  <a:schemeClr val="accent1">
                    <a:lumMod val="50000"/>
                  </a:schemeClr>
                </a:solidFill>
              </a:rPr>
              <a:t> 1.order details table (</a:t>
            </a:r>
            <a:r>
              <a:rPr lang="en-US" dirty="0" err="1">
                <a:solidFill>
                  <a:schemeClr val="accent1">
                    <a:lumMod val="50000"/>
                  </a:schemeClr>
                </a:solidFill>
              </a:rPr>
              <a:t>order_details_id</a:t>
            </a:r>
            <a:r>
              <a:rPr lang="en-US" dirty="0">
                <a:solidFill>
                  <a:schemeClr val="accent1">
                    <a:lumMod val="50000"/>
                  </a:schemeClr>
                </a:solidFill>
              </a:rPr>
              <a:t>, </a:t>
            </a:r>
            <a:r>
              <a:rPr lang="en-US" dirty="0" err="1">
                <a:solidFill>
                  <a:schemeClr val="accent1">
                    <a:lumMod val="50000"/>
                  </a:schemeClr>
                </a:solidFill>
              </a:rPr>
              <a:t>order_id</a:t>
            </a:r>
            <a:r>
              <a:rPr lang="en-US" dirty="0">
                <a:solidFill>
                  <a:schemeClr val="accent1">
                    <a:lumMod val="50000"/>
                  </a:schemeClr>
                </a:solidFill>
              </a:rPr>
              <a:t>, </a:t>
            </a:r>
            <a:r>
              <a:rPr lang="en-US" dirty="0" err="1">
                <a:solidFill>
                  <a:schemeClr val="accent1">
                    <a:lumMod val="50000"/>
                  </a:schemeClr>
                </a:solidFill>
              </a:rPr>
              <a:t>order_date</a:t>
            </a:r>
            <a:r>
              <a:rPr lang="en-US" dirty="0">
                <a:solidFill>
                  <a:schemeClr val="accent1">
                    <a:lumMod val="50000"/>
                  </a:schemeClr>
                </a:solidFill>
              </a:rPr>
              <a:t>, </a:t>
            </a:r>
            <a:r>
              <a:rPr lang="en-US" dirty="0" err="1">
                <a:solidFill>
                  <a:schemeClr val="accent1">
                    <a:lumMod val="50000"/>
                  </a:schemeClr>
                </a:solidFill>
              </a:rPr>
              <a:t>order_time</a:t>
            </a:r>
            <a:r>
              <a:rPr lang="en-US" dirty="0">
                <a:solidFill>
                  <a:schemeClr val="accent1">
                    <a:lumMod val="50000"/>
                  </a:schemeClr>
                </a:solidFill>
              </a:rPr>
              <a:t>, </a:t>
            </a:r>
            <a:r>
              <a:rPr lang="en-US" dirty="0" err="1">
                <a:solidFill>
                  <a:schemeClr val="accent1">
                    <a:lumMod val="50000"/>
                  </a:schemeClr>
                </a:solidFill>
              </a:rPr>
              <a:t>item_id</a:t>
            </a:r>
            <a:r>
              <a:rPr lang="en-US" dirty="0">
                <a:solidFill>
                  <a:schemeClr val="accent1">
                    <a:lumMod val="50000"/>
                  </a:schemeClr>
                </a:solidFill>
              </a:rPr>
              <a:t> )</a:t>
            </a:r>
          </a:p>
          <a:p>
            <a:r>
              <a:rPr lang="en-US" dirty="0">
                <a:solidFill>
                  <a:schemeClr val="accent1">
                    <a:lumMod val="50000"/>
                  </a:schemeClr>
                </a:solidFill>
              </a:rPr>
              <a:t>2. Menu items table(</a:t>
            </a:r>
            <a:r>
              <a:rPr lang="en-US" dirty="0" err="1">
                <a:solidFill>
                  <a:schemeClr val="accent1">
                    <a:lumMod val="50000"/>
                  </a:schemeClr>
                </a:solidFill>
              </a:rPr>
              <a:t>menu_item_id</a:t>
            </a:r>
            <a:r>
              <a:rPr lang="en-US" dirty="0">
                <a:solidFill>
                  <a:schemeClr val="accent1">
                    <a:lumMod val="50000"/>
                  </a:schemeClr>
                </a:solidFill>
              </a:rPr>
              <a:t>, </a:t>
            </a:r>
            <a:r>
              <a:rPr lang="en-US" dirty="0" err="1">
                <a:solidFill>
                  <a:schemeClr val="accent1">
                    <a:lumMod val="50000"/>
                  </a:schemeClr>
                </a:solidFill>
              </a:rPr>
              <a:t>item_name</a:t>
            </a:r>
            <a:r>
              <a:rPr lang="en-US" dirty="0">
                <a:solidFill>
                  <a:schemeClr val="accent1">
                    <a:lumMod val="50000"/>
                  </a:schemeClr>
                </a:solidFill>
              </a:rPr>
              <a:t>, category, price )</a:t>
            </a:r>
          </a:p>
          <a:p>
            <a:endParaRPr lang="en-US" dirty="0">
              <a:solidFill>
                <a:schemeClr val="accent1">
                  <a:lumMod val="50000"/>
                </a:schemeClr>
              </a:solidFill>
            </a:endParaRPr>
          </a:p>
          <a:p>
            <a:r>
              <a:rPr lang="en-US" dirty="0">
                <a:solidFill>
                  <a:schemeClr val="accent1">
                    <a:lumMod val="50000"/>
                  </a:schemeClr>
                </a:solidFill>
              </a:rPr>
              <a:t>The orders table contains three months of order data (from January 1, 2023, to March 31, 2023) from an International cuisine restaurant, while the menu table contains details of menu items. </a:t>
            </a:r>
            <a:endParaRPr lang="en-IN" dirty="0">
              <a:solidFill>
                <a:schemeClr val="accent1">
                  <a:lumMod val="50000"/>
                </a:schemeClr>
              </a:solidFill>
            </a:endParaRPr>
          </a:p>
        </p:txBody>
      </p:sp>
    </p:spTree>
    <p:extLst>
      <p:ext uri="{BB962C8B-B14F-4D97-AF65-F5344CB8AC3E}">
        <p14:creationId xmlns:p14="http://schemas.microsoft.com/office/powerpoint/2010/main" val="3237404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6FA2-58E1-9A4E-DA72-76C27DBD22B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CC0DF06-2079-5F2B-3972-E45587D32F56}"/>
              </a:ext>
            </a:extLst>
          </p:cNvPr>
          <p:cNvSpPr/>
          <p:nvPr/>
        </p:nvSpPr>
        <p:spPr>
          <a:xfrm>
            <a:off x="0" y="0"/>
            <a:ext cx="6962775" cy="685799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accent2">
                    <a:lumMod val="75000"/>
                  </a:schemeClr>
                </a:solidFill>
                <a:latin typeface="Bernard MT Condensed" panose="02050806060905020404" pitchFamily="18" charset="0"/>
              </a:rPr>
              <a:t>OBJECTIVES</a:t>
            </a:r>
          </a:p>
          <a:p>
            <a:pPr algn="ctr"/>
            <a:endParaRPr lang="en-US" sz="1200" dirty="0">
              <a:solidFill>
                <a:schemeClr val="accent2">
                  <a:lumMod val="75000"/>
                </a:schemeClr>
              </a:solidFill>
              <a:latin typeface="Bernard MT Condensed" panose="02050806060905020404" pitchFamily="18" charset="0"/>
            </a:endParaRPr>
          </a:p>
        </p:txBody>
      </p:sp>
      <p:cxnSp>
        <p:nvCxnSpPr>
          <p:cNvPr id="3" name="Straight Connector 2">
            <a:extLst>
              <a:ext uri="{FF2B5EF4-FFF2-40B4-BE49-F238E27FC236}">
                <a16:creationId xmlns:a16="http://schemas.microsoft.com/office/drawing/2014/main" id="{A51D497F-1151-1464-BEF6-87596721B984}"/>
              </a:ext>
            </a:extLst>
          </p:cNvPr>
          <p:cNvCxnSpPr>
            <a:cxnSpLocks/>
          </p:cNvCxnSpPr>
          <p:nvPr/>
        </p:nvCxnSpPr>
        <p:spPr>
          <a:xfrm>
            <a:off x="6962775" y="4768645"/>
            <a:ext cx="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9445201-49DB-F111-E0EC-803C34B4FC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148386" y="814383"/>
            <a:ext cx="6858002" cy="5229224"/>
          </a:xfrm>
          <a:prstGeom prst="rect">
            <a:avLst/>
          </a:prstGeom>
        </p:spPr>
      </p:pic>
    </p:spTree>
    <p:extLst>
      <p:ext uri="{BB962C8B-B14F-4D97-AF65-F5344CB8AC3E}">
        <p14:creationId xmlns:p14="http://schemas.microsoft.com/office/powerpoint/2010/main" val="1376625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E199E1-8261-7230-CC26-80C50B7361B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0472A37-894B-9719-7B62-85ACC75C1AE0}"/>
              </a:ext>
            </a:extLst>
          </p:cNvPr>
          <p:cNvSpPr/>
          <p:nvPr/>
        </p:nvSpPr>
        <p:spPr>
          <a:xfrm>
            <a:off x="3224981" y="432619"/>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2400" dirty="0"/>
              <a:t>Objectives</a:t>
            </a:r>
          </a:p>
        </p:txBody>
      </p:sp>
      <p:sp>
        <p:nvSpPr>
          <p:cNvPr id="12" name="Rectangle 11">
            <a:extLst>
              <a:ext uri="{FF2B5EF4-FFF2-40B4-BE49-F238E27FC236}">
                <a16:creationId xmlns:a16="http://schemas.microsoft.com/office/drawing/2014/main" id="{1E5EE716-4563-2DC8-6BA1-601894CD39F0}"/>
              </a:ext>
            </a:extLst>
          </p:cNvPr>
          <p:cNvSpPr/>
          <p:nvPr/>
        </p:nvSpPr>
        <p:spPr>
          <a:xfrm>
            <a:off x="1297858" y="1798321"/>
            <a:ext cx="9596284" cy="4446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rabicPeriod"/>
            </a:pPr>
            <a:r>
              <a:rPr lang="en-US" dirty="0"/>
              <a:t>Analyze order data to identify the top 5 most and bottom 5 least popular menu items and their types of cuisine.</a:t>
            </a:r>
          </a:p>
          <a:p>
            <a:pPr marL="342900" indent="-342900">
              <a:lnSpc>
                <a:spcPct val="150000"/>
              </a:lnSpc>
              <a:buAutoNum type="arabicPeriod"/>
            </a:pPr>
            <a:r>
              <a:rPr lang="en-US" dirty="0"/>
              <a:t>Find peak order hours and items ordered during peak hours</a:t>
            </a:r>
          </a:p>
          <a:p>
            <a:pPr marL="342900" indent="-342900">
              <a:lnSpc>
                <a:spcPct val="150000"/>
              </a:lnSpc>
              <a:buAutoNum type="arabicPeriod"/>
            </a:pPr>
            <a:r>
              <a:rPr lang="en-US" dirty="0"/>
              <a:t> Revenue generated from top 5 highest orders</a:t>
            </a:r>
          </a:p>
          <a:p>
            <a:pPr marL="342900" indent="-342900">
              <a:lnSpc>
                <a:spcPct val="150000"/>
              </a:lnSpc>
              <a:buAutoNum type="arabicPeriod"/>
            </a:pPr>
            <a:r>
              <a:rPr lang="en-US" dirty="0"/>
              <a:t>Total orders as per day of week</a:t>
            </a:r>
          </a:p>
          <a:p>
            <a:pPr marL="342900" indent="-342900">
              <a:lnSpc>
                <a:spcPct val="150000"/>
              </a:lnSpc>
              <a:buAutoNum type="arabicPeriod"/>
            </a:pPr>
            <a:r>
              <a:rPr lang="en-US" dirty="0"/>
              <a:t>Category wise menu </a:t>
            </a:r>
            <a:r>
              <a:rPr lang="en-US" dirty="0" err="1"/>
              <a:t>items,total</a:t>
            </a:r>
            <a:r>
              <a:rPr lang="en-US" dirty="0"/>
              <a:t> orders and revenue</a:t>
            </a:r>
          </a:p>
          <a:p>
            <a:pPr marL="342900" indent="-342900">
              <a:lnSpc>
                <a:spcPct val="150000"/>
              </a:lnSpc>
              <a:buAutoNum type="arabicPeriod"/>
            </a:pPr>
            <a:r>
              <a:rPr lang="en-US" dirty="0"/>
              <a:t>Find </a:t>
            </a:r>
            <a:r>
              <a:rPr lang="en-US" dirty="0" err="1"/>
              <a:t>bestestselling</a:t>
            </a:r>
            <a:r>
              <a:rPr lang="en-US" dirty="0"/>
              <a:t> items </a:t>
            </a:r>
          </a:p>
          <a:p>
            <a:pPr marL="342900" indent="-342900">
              <a:lnSpc>
                <a:spcPct val="150000"/>
              </a:lnSpc>
              <a:buFontTx/>
              <a:buAutoNum type="arabicPeriod"/>
            </a:pPr>
            <a:r>
              <a:rPr lang="en-US" dirty="0"/>
              <a:t>Top 3 items in each cuisines based on the number of orders</a:t>
            </a:r>
          </a:p>
          <a:p>
            <a:pPr marL="342900" indent="-342900">
              <a:lnSpc>
                <a:spcPct val="150000"/>
              </a:lnSpc>
              <a:buFontTx/>
              <a:buAutoNum type="arabicPeriod"/>
            </a:pPr>
            <a:r>
              <a:rPr lang="en-US" dirty="0"/>
              <a:t>Top 5 highest value order IDs with item names and amount spent</a:t>
            </a:r>
          </a:p>
          <a:p>
            <a:pPr marL="342900" indent="-342900" algn="ctr">
              <a:buAutoNum type="arabicPeriod"/>
            </a:pPr>
            <a:endParaRPr lang="en-US" dirty="0"/>
          </a:p>
          <a:p>
            <a:pPr marL="342900" indent="-342900" algn="ctr">
              <a:buAutoNum type="arabicPeriod"/>
            </a:pPr>
            <a:endParaRPr lang="en-US" dirty="0"/>
          </a:p>
          <a:p>
            <a:pPr marL="342900" indent="-342900" algn="ctr">
              <a:buAutoNum type="arabicPeriod"/>
            </a:pPr>
            <a:endParaRPr lang="en-IN" dirty="0"/>
          </a:p>
        </p:txBody>
      </p:sp>
    </p:spTree>
    <p:extLst>
      <p:ext uri="{BB962C8B-B14F-4D97-AF65-F5344CB8AC3E}">
        <p14:creationId xmlns:p14="http://schemas.microsoft.com/office/powerpoint/2010/main" val="235166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5932-0A4B-55AC-1DAB-FF7607E601F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BD91AC9-56EC-F40A-2B05-CDCF242FFE19}"/>
              </a:ext>
            </a:extLst>
          </p:cNvPr>
          <p:cNvSpPr/>
          <p:nvPr/>
        </p:nvSpPr>
        <p:spPr>
          <a:xfrm>
            <a:off x="0" y="0"/>
            <a:ext cx="6962775" cy="685799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accent2">
                    <a:lumMod val="75000"/>
                  </a:schemeClr>
                </a:solidFill>
                <a:latin typeface="Bernard MT Condensed" panose="02050806060905020404" pitchFamily="18" charset="0"/>
              </a:rPr>
              <a:t>DATA ANALYSIS</a:t>
            </a:r>
          </a:p>
          <a:p>
            <a:pPr algn="ctr"/>
            <a:endParaRPr lang="en-US" sz="1200" dirty="0">
              <a:solidFill>
                <a:schemeClr val="accent2">
                  <a:lumMod val="75000"/>
                </a:schemeClr>
              </a:solidFill>
              <a:latin typeface="Bernard MT Condensed" panose="02050806060905020404" pitchFamily="18" charset="0"/>
            </a:endParaRPr>
          </a:p>
        </p:txBody>
      </p:sp>
      <p:cxnSp>
        <p:nvCxnSpPr>
          <p:cNvPr id="3" name="Straight Connector 2">
            <a:extLst>
              <a:ext uri="{FF2B5EF4-FFF2-40B4-BE49-F238E27FC236}">
                <a16:creationId xmlns:a16="http://schemas.microsoft.com/office/drawing/2014/main" id="{7BBE6B8A-6FE2-DC55-BDAA-0A042313AF85}"/>
              </a:ext>
            </a:extLst>
          </p:cNvPr>
          <p:cNvCxnSpPr>
            <a:cxnSpLocks/>
          </p:cNvCxnSpPr>
          <p:nvPr/>
        </p:nvCxnSpPr>
        <p:spPr>
          <a:xfrm>
            <a:off x="6962775" y="4768645"/>
            <a:ext cx="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84FC67EC-333A-7412-896F-BEE278A4C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148386" y="814383"/>
            <a:ext cx="6858002" cy="5229224"/>
          </a:xfrm>
          <a:prstGeom prst="rect">
            <a:avLst/>
          </a:prstGeom>
        </p:spPr>
      </p:pic>
    </p:spTree>
    <p:extLst>
      <p:ext uri="{BB962C8B-B14F-4D97-AF65-F5344CB8AC3E}">
        <p14:creationId xmlns:p14="http://schemas.microsoft.com/office/powerpoint/2010/main" val="4129509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873E7E-DB90-4033-DBA8-45489AD212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E35C5A-9FA2-B9B6-1AAA-04164E6EC57D}"/>
              </a:ext>
            </a:extLst>
          </p:cNvPr>
          <p:cNvSpPr/>
          <p:nvPr/>
        </p:nvSpPr>
        <p:spPr>
          <a:xfrm>
            <a:off x="3224981" y="432619"/>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2400" dirty="0"/>
              <a:t>Monthly order trend</a:t>
            </a:r>
          </a:p>
        </p:txBody>
      </p:sp>
      <p:graphicFrame>
        <p:nvGraphicFramePr>
          <p:cNvPr id="5" name="Chart 4">
            <a:extLst>
              <a:ext uri="{FF2B5EF4-FFF2-40B4-BE49-F238E27FC236}">
                <a16:creationId xmlns:a16="http://schemas.microsoft.com/office/drawing/2014/main" id="{B659CF6A-89A6-16A9-042F-4FE83E2AC4B1}"/>
              </a:ext>
            </a:extLst>
          </p:cNvPr>
          <p:cNvGraphicFramePr>
            <a:graphicFrameLocks/>
          </p:cNvGraphicFramePr>
          <p:nvPr>
            <p:extLst>
              <p:ext uri="{D42A27DB-BD31-4B8C-83A1-F6EECF244321}">
                <p14:modId xmlns:p14="http://schemas.microsoft.com/office/powerpoint/2010/main" val="1164547839"/>
              </p:ext>
            </p:extLst>
          </p:nvPr>
        </p:nvGraphicFramePr>
        <p:xfrm>
          <a:off x="2956560" y="2057400"/>
          <a:ext cx="6278880" cy="30124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1250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4FB720D-C8ED-B51F-9C80-31DDBAD4D37A}"/>
              </a:ext>
            </a:extLst>
          </p:cNvPr>
          <p:cNvSpPr/>
          <p:nvPr/>
        </p:nvSpPr>
        <p:spPr>
          <a:xfrm>
            <a:off x="3224981" y="452284"/>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Top 5 most ordered items</a:t>
            </a:r>
            <a:endParaRPr lang="en-IN" sz="2400" dirty="0"/>
          </a:p>
        </p:txBody>
      </p:sp>
      <p:sp>
        <p:nvSpPr>
          <p:cNvPr id="12" name="Rectangle 11">
            <a:extLst>
              <a:ext uri="{FF2B5EF4-FFF2-40B4-BE49-F238E27FC236}">
                <a16:creationId xmlns:a16="http://schemas.microsoft.com/office/drawing/2014/main" id="{6F8AE880-B027-2655-9043-75DC4F419C41}"/>
              </a:ext>
            </a:extLst>
          </p:cNvPr>
          <p:cNvSpPr/>
          <p:nvPr/>
        </p:nvSpPr>
        <p:spPr>
          <a:xfrm>
            <a:off x="9094839" y="4168877"/>
            <a:ext cx="2910348" cy="2576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select </a:t>
            </a:r>
            <a:r>
              <a:rPr lang="en-IN" sz="1600" dirty="0" err="1"/>
              <a:t>item_name,category</a:t>
            </a:r>
            <a:r>
              <a:rPr lang="en-IN" sz="1600" dirty="0"/>
              <a:t>, count(</a:t>
            </a:r>
            <a:r>
              <a:rPr lang="en-IN" sz="1600" dirty="0" err="1"/>
              <a:t>item_id</a:t>
            </a:r>
            <a:r>
              <a:rPr lang="en-IN" sz="1600" dirty="0"/>
              <a:t>) as </a:t>
            </a:r>
            <a:r>
              <a:rPr lang="en-IN" sz="1600" dirty="0" err="1"/>
              <a:t>numberOFordersfrom</a:t>
            </a:r>
            <a:r>
              <a:rPr lang="en-IN" sz="1600" dirty="0"/>
              <a:t> </a:t>
            </a:r>
            <a:r>
              <a:rPr lang="en-IN" sz="1600" dirty="0" err="1"/>
              <a:t>order_details</a:t>
            </a:r>
            <a:r>
              <a:rPr lang="en-IN" sz="1600" dirty="0"/>
              <a:t> o inner join </a:t>
            </a:r>
            <a:r>
              <a:rPr lang="en-IN" sz="1600" dirty="0" err="1"/>
              <a:t>menu_items</a:t>
            </a:r>
            <a:r>
              <a:rPr lang="en-IN" sz="1600" dirty="0"/>
              <a:t> m on </a:t>
            </a:r>
            <a:r>
              <a:rPr lang="en-IN" sz="1600" dirty="0" err="1"/>
              <a:t>o.item_id</a:t>
            </a:r>
            <a:r>
              <a:rPr lang="en-IN" sz="1600" dirty="0"/>
              <a:t>=</a:t>
            </a:r>
            <a:r>
              <a:rPr lang="en-IN" sz="1600" dirty="0" err="1"/>
              <a:t>m.menu_item_idgroup</a:t>
            </a:r>
            <a:r>
              <a:rPr lang="en-IN" sz="1600" dirty="0"/>
              <a:t> by </a:t>
            </a:r>
            <a:r>
              <a:rPr lang="en-IN" sz="1600" dirty="0" err="1"/>
              <a:t>item_name,categoryorder</a:t>
            </a:r>
            <a:r>
              <a:rPr lang="en-IN" sz="1600" dirty="0"/>
              <a:t> by 3 </a:t>
            </a:r>
            <a:r>
              <a:rPr lang="en-IN" sz="1600" dirty="0" err="1"/>
              <a:t>desclimit</a:t>
            </a:r>
            <a:r>
              <a:rPr lang="en-IN" sz="1600" dirty="0"/>
              <a:t> 5;</a:t>
            </a:r>
          </a:p>
        </p:txBody>
      </p:sp>
      <p:graphicFrame>
        <p:nvGraphicFramePr>
          <p:cNvPr id="14" name="Chart 13">
            <a:extLst>
              <a:ext uri="{FF2B5EF4-FFF2-40B4-BE49-F238E27FC236}">
                <a16:creationId xmlns:a16="http://schemas.microsoft.com/office/drawing/2014/main" id="{70164858-56D2-0FCF-C1C1-EC941EB1FC61}"/>
              </a:ext>
            </a:extLst>
          </p:cNvPr>
          <p:cNvGraphicFramePr>
            <a:graphicFrameLocks/>
          </p:cNvGraphicFramePr>
          <p:nvPr>
            <p:extLst>
              <p:ext uri="{D42A27DB-BD31-4B8C-83A1-F6EECF244321}">
                <p14:modId xmlns:p14="http://schemas.microsoft.com/office/powerpoint/2010/main" val="3313010885"/>
              </p:ext>
            </p:extLst>
          </p:nvPr>
        </p:nvGraphicFramePr>
        <p:xfrm>
          <a:off x="3082413" y="1950720"/>
          <a:ext cx="6027174" cy="29565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57225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F09E8D1-7375-A70C-A160-04D6CDA7431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01D0214-85FA-2A6F-B8E1-D3E0D5A980EF}"/>
              </a:ext>
            </a:extLst>
          </p:cNvPr>
          <p:cNvSpPr/>
          <p:nvPr/>
        </p:nvSpPr>
        <p:spPr>
          <a:xfrm>
            <a:off x="2998839" y="452284"/>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Bottom 5 least ordered items</a:t>
            </a:r>
            <a:endParaRPr lang="en-IN" sz="2400" dirty="0"/>
          </a:p>
        </p:txBody>
      </p:sp>
      <p:sp>
        <p:nvSpPr>
          <p:cNvPr id="12" name="Rectangle 11">
            <a:extLst>
              <a:ext uri="{FF2B5EF4-FFF2-40B4-BE49-F238E27FC236}">
                <a16:creationId xmlns:a16="http://schemas.microsoft.com/office/drawing/2014/main" id="{0B3134A8-B05C-68A6-030C-F57ED891C96D}"/>
              </a:ext>
            </a:extLst>
          </p:cNvPr>
          <p:cNvSpPr/>
          <p:nvPr/>
        </p:nvSpPr>
        <p:spPr>
          <a:xfrm>
            <a:off x="9094839" y="4168877"/>
            <a:ext cx="2910348" cy="2576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select </a:t>
            </a:r>
            <a:r>
              <a:rPr lang="en-IN" sz="1600" dirty="0" err="1"/>
              <a:t>item_id,item_name,category</a:t>
            </a:r>
            <a:r>
              <a:rPr lang="en-IN" sz="1600" dirty="0"/>
              <a:t>, count(</a:t>
            </a:r>
            <a:r>
              <a:rPr lang="en-IN" sz="1600" dirty="0" err="1"/>
              <a:t>item_id</a:t>
            </a:r>
            <a:r>
              <a:rPr lang="en-IN" sz="1600" dirty="0"/>
              <a:t>) from </a:t>
            </a:r>
            <a:r>
              <a:rPr lang="en-IN" sz="1600" dirty="0" err="1"/>
              <a:t>order_details</a:t>
            </a:r>
            <a:r>
              <a:rPr lang="en-IN" sz="1600" dirty="0"/>
              <a:t> o inner join </a:t>
            </a:r>
            <a:r>
              <a:rPr lang="en-IN" sz="1600" dirty="0" err="1"/>
              <a:t>menu_items</a:t>
            </a:r>
            <a:r>
              <a:rPr lang="en-IN" sz="1600" dirty="0"/>
              <a:t> m on </a:t>
            </a:r>
            <a:r>
              <a:rPr lang="en-IN" sz="1600" dirty="0" err="1"/>
              <a:t>o.item_id</a:t>
            </a:r>
            <a:r>
              <a:rPr lang="en-IN" sz="1600" dirty="0"/>
              <a:t>=</a:t>
            </a:r>
            <a:r>
              <a:rPr lang="en-IN" sz="1600" dirty="0" err="1"/>
              <a:t>m.menu_item_idgroup</a:t>
            </a:r>
            <a:r>
              <a:rPr lang="en-IN" sz="1600" dirty="0"/>
              <a:t> by </a:t>
            </a:r>
            <a:r>
              <a:rPr lang="en-IN" sz="1600" dirty="0" err="1"/>
              <a:t>item_id,item_name,categoryorder</a:t>
            </a:r>
            <a:r>
              <a:rPr lang="en-IN" sz="1600" dirty="0"/>
              <a:t> by 4 limit 5;</a:t>
            </a:r>
          </a:p>
        </p:txBody>
      </p:sp>
      <p:graphicFrame>
        <p:nvGraphicFramePr>
          <p:cNvPr id="5" name="Chart 4">
            <a:extLst>
              <a:ext uri="{FF2B5EF4-FFF2-40B4-BE49-F238E27FC236}">
                <a16:creationId xmlns:a16="http://schemas.microsoft.com/office/drawing/2014/main" id="{BFAD7518-509A-6D44-7524-DD353FF08AEE}"/>
              </a:ext>
            </a:extLst>
          </p:cNvPr>
          <p:cNvGraphicFramePr>
            <a:graphicFrameLocks/>
          </p:cNvGraphicFramePr>
          <p:nvPr>
            <p:extLst>
              <p:ext uri="{D42A27DB-BD31-4B8C-83A1-F6EECF244321}">
                <p14:modId xmlns:p14="http://schemas.microsoft.com/office/powerpoint/2010/main" val="3482324649"/>
              </p:ext>
            </p:extLst>
          </p:nvPr>
        </p:nvGraphicFramePr>
        <p:xfrm>
          <a:off x="2797278" y="1799303"/>
          <a:ext cx="6145160" cy="34904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75846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183777E-8DBE-771D-5ED2-2A851DD321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7D42BF-4EC9-5384-E5C7-DD6812701C42}"/>
              </a:ext>
            </a:extLst>
          </p:cNvPr>
          <p:cNvSpPr/>
          <p:nvPr/>
        </p:nvSpPr>
        <p:spPr>
          <a:xfrm>
            <a:off x="2113935" y="619432"/>
            <a:ext cx="8003459" cy="766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Orders by hour of the day</a:t>
            </a:r>
            <a:endParaRPr lang="en-IN" sz="2400" dirty="0"/>
          </a:p>
        </p:txBody>
      </p:sp>
      <p:graphicFrame>
        <p:nvGraphicFramePr>
          <p:cNvPr id="4" name="Chart 3">
            <a:extLst>
              <a:ext uri="{FF2B5EF4-FFF2-40B4-BE49-F238E27FC236}">
                <a16:creationId xmlns:a16="http://schemas.microsoft.com/office/drawing/2014/main" id="{1A369B2F-A516-B623-66C0-32B17C5C8BBD}"/>
              </a:ext>
            </a:extLst>
          </p:cNvPr>
          <p:cNvGraphicFramePr>
            <a:graphicFrameLocks/>
          </p:cNvGraphicFramePr>
          <p:nvPr/>
        </p:nvGraphicFramePr>
        <p:xfrm>
          <a:off x="1101213" y="1545415"/>
          <a:ext cx="9497961" cy="3767169"/>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59CFBE56-3425-A623-7B11-B01B85CFD357}"/>
              </a:ext>
            </a:extLst>
          </p:cNvPr>
          <p:cNvSpPr/>
          <p:nvPr/>
        </p:nvSpPr>
        <p:spPr>
          <a:xfrm>
            <a:off x="7138219" y="5810865"/>
            <a:ext cx="4965291" cy="963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timeoftheday,count</a:t>
            </a:r>
            <a:r>
              <a:rPr lang="en-US" dirty="0"/>
              <a:t>(distinct </a:t>
            </a:r>
            <a:r>
              <a:rPr lang="en-US" dirty="0" err="1"/>
              <a:t>order_id</a:t>
            </a:r>
            <a:r>
              <a:rPr lang="en-US" dirty="0"/>
              <a:t>) as </a:t>
            </a:r>
            <a:r>
              <a:rPr lang="en-US" dirty="0" err="1"/>
              <a:t>numberofordersfrom</a:t>
            </a:r>
            <a:r>
              <a:rPr lang="en-US" dirty="0"/>
              <a:t> </a:t>
            </a:r>
            <a:r>
              <a:rPr lang="en-US" dirty="0" err="1"/>
              <a:t>order_details</a:t>
            </a:r>
            <a:r>
              <a:rPr lang="en-US" dirty="0"/>
              <a:t> group by </a:t>
            </a:r>
            <a:r>
              <a:rPr lang="en-US" dirty="0" err="1"/>
              <a:t>timeoftheday</a:t>
            </a:r>
            <a:r>
              <a:rPr lang="en-US" dirty="0"/>
              <a:t> order by 1;</a:t>
            </a:r>
            <a:endParaRPr lang="en-IN" dirty="0"/>
          </a:p>
        </p:txBody>
      </p:sp>
      <p:sp>
        <p:nvSpPr>
          <p:cNvPr id="6" name="Rectangle 5">
            <a:extLst>
              <a:ext uri="{FF2B5EF4-FFF2-40B4-BE49-F238E27FC236}">
                <a16:creationId xmlns:a16="http://schemas.microsoft.com/office/drawing/2014/main" id="{238A5EB6-65AE-6CBE-4748-0538BE31A575}"/>
              </a:ext>
            </a:extLst>
          </p:cNvPr>
          <p:cNvSpPr/>
          <p:nvPr/>
        </p:nvSpPr>
        <p:spPr>
          <a:xfrm>
            <a:off x="589935" y="5810865"/>
            <a:ext cx="4778478" cy="963561"/>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endParaRPr lang="en-US" b="1" dirty="0">
              <a:ln/>
              <a:solidFill>
                <a:schemeClr val="accent4"/>
              </a:solidFill>
            </a:endParaRPr>
          </a:p>
        </p:txBody>
      </p:sp>
    </p:spTree>
    <p:extLst>
      <p:ext uri="{BB962C8B-B14F-4D97-AF65-F5344CB8AC3E}">
        <p14:creationId xmlns:p14="http://schemas.microsoft.com/office/powerpoint/2010/main" val="573883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47F0295-EB6B-26BD-45E6-DC3DDA9C56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375C3E-816F-73E1-BE61-FB511AF82CBE}"/>
              </a:ext>
            </a:extLst>
          </p:cNvPr>
          <p:cNvSpPr/>
          <p:nvPr/>
        </p:nvSpPr>
        <p:spPr>
          <a:xfrm>
            <a:off x="2113935" y="619432"/>
            <a:ext cx="8003459" cy="766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Top 10 items ordered during peak time period</a:t>
            </a:r>
            <a:endParaRPr lang="en-IN" sz="2400" dirty="0"/>
          </a:p>
        </p:txBody>
      </p:sp>
      <p:sp>
        <p:nvSpPr>
          <p:cNvPr id="5" name="Rectangle 4">
            <a:extLst>
              <a:ext uri="{FF2B5EF4-FFF2-40B4-BE49-F238E27FC236}">
                <a16:creationId xmlns:a16="http://schemas.microsoft.com/office/drawing/2014/main" id="{46FB5EAD-1EA9-E8BC-551B-426CD3230DA1}"/>
              </a:ext>
            </a:extLst>
          </p:cNvPr>
          <p:cNvSpPr/>
          <p:nvPr/>
        </p:nvSpPr>
        <p:spPr>
          <a:xfrm>
            <a:off x="6918961" y="4968240"/>
            <a:ext cx="5184550" cy="18061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with </a:t>
            </a:r>
            <a:r>
              <a:rPr lang="en-IN" sz="1400" dirty="0" err="1"/>
              <a:t>peaktime</a:t>
            </a:r>
            <a:r>
              <a:rPr lang="en-IN" sz="1400" dirty="0"/>
              <a:t> as (select </a:t>
            </a:r>
            <a:r>
              <a:rPr lang="en-IN" sz="1400" dirty="0" err="1"/>
              <a:t>timeoftheday,count</a:t>
            </a:r>
            <a:r>
              <a:rPr lang="en-IN" sz="1400" dirty="0"/>
              <a:t>(distinct </a:t>
            </a:r>
            <a:r>
              <a:rPr lang="en-IN" sz="1400" dirty="0" err="1"/>
              <a:t>order_id</a:t>
            </a:r>
            <a:r>
              <a:rPr lang="en-IN" sz="1400" dirty="0"/>
              <a:t>) as </a:t>
            </a:r>
            <a:r>
              <a:rPr lang="en-IN" sz="1400" dirty="0" err="1"/>
              <a:t>numberofordersfrom</a:t>
            </a:r>
            <a:r>
              <a:rPr lang="en-IN" sz="1400" dirty="0"/>
              <a:t> </a:t>
            </a:r>
            <a:r>
              <a:rPr lang="en-IN" sz="1400" dirty="0" err="1"/>
              <a:t>order_detailsgroup</a:t>
            </a:r>
            <a:r>
              <a:rPr lang="en-IN" sz="1400" dirty="0"/>
              <a:t> by </a:t>
            </a:r>
            <a:r>
              <a:rPr lang="en-IN" sz="1400" dirty="0" err="1"/>
              <a:t>timeofthedayorder</a:t>
            </a:r>
            <a:r>
              <a:rPr lang="en-IN" sz="1400" dirty="0"/>
              <a:t> by 2 </a:t>
            </a:r>
            <a:r>
              <a:rPr lang="en-IN" sz="1400" dirty="0" err="1"/>
              <a:t>desclimit</a:t>
            </a:r>
            <a:r>
              <a:rPr lang="en-IN" sz="1400" dirty="0"/>
              <a:t> 1)select </a:t>
            </a:r>
            <a:r>
              <a:rPr lang="en-IN" sz="1400" dirty="0" err="1"/>
              <a:t>m.item_name</a:t>
            </a:r>
            <a:r>
              <a:rPr lang="en-IN" sz="1400" dirty="0"/>
              <a:t>, </a:t>
            </a:r>
            <a:r>
              <a:rPr lang="en-IN" sz="1400" dirty="0" err="1"/>
              <a:t>m.category</a:t>
            </a:r>
            <a:r>
              <a:rPr lang="en-IN" sz="1400" dirty="0"/>
              <a:t>, count(distinct </a:t>
            </a:r>
            <a:r>
              <a:rPr lang="en-IN" sz="1400" dirty="0" err="1"/>
              <a:t>order_id</a:t>
            </a:r>
            <a:r>
              <a:rPr lang="en-IN" sz="1400" dirty="0"/>
              <a:t>) </a:t>
            </a:r>
            <a:r>
              <a:rPr lang="en-IN" sz="1400" dirty="0" err="1"/>
              <a:t>NumberOfOrdersfrom</a:t>
            </a:r>
            <a:r>
              <a:rPr lang="en-IN" sz="1400" dirty="0"/>
              <a:t> </a:t>
            </a:r>
            <a:r>
              <a:rPr lang="en-IN" sz="1400" dirty="0" err="1"/>
              <a:t>order_details</a:t>
            </a:r>
            <a:r>
              <a:rPr lang="en-IN" sz="1400" dirty="0"/>
              <a:t> o inner join </a:t>
            </a:r>
            <a:r>
              <a:rPr lang="en-IN" sz="1400" dirty="0" err="1"/>
              <a:t>menu_items</a:t>
            </a:r>
            <a:r>
              <a:rPr lang="en-IN" sz="1400" dirty="0"/>
              <a:t> m on </a:t>
            </a:r>
            <a:r>
              <a:rPr lang="en-IN" sz="1400" dirty="0" err="1"/>
              <a:t>o.item_id</a:t>
            </a:r>
            <a:r>
              <a:rPr lang="en-IN" sz="1400" dirty="0"/>
              <a:t> = </a:t>
            </a:r>
            <a:r>
              <a:rPr lang="en-IN" sz="1400" dirty="0" err="1"/>
              <a:t>m.menu_item_id</a:t>
            </a:r>
            <a:r>
              <a:rPr lang="en-IN" sz="1400" dirty="0"/>
              <a:t> inner join </a:t>
            </a:r>
            <a:r>
              <a:rPr lang="en-IN" sz="1400" dirty="0" err="1"/>
              <a:t>PeakTime</a:t>
            </a:r>
            <a:r>
              <a:rPr lang="en-IN" sz="1400" dirty="0"/>
              <a:t> p on </a:t>
            </a:r>
            <a:r>
              <a:rPr lang="en-IN" sz="1400" dirty="0" err="1"/>
              <a:t>o.TimeOfTheDay</a:t>
            </a:r>
            <a:r>
              <a:rPr lang="en-IN" sz="1400" dirty="0"/>
              <a:t> = </a:t>
            </a:r>
            <a:r>
              <a:rPr lang="en-IN" sz="1400" dirty="0" err="1"/>
              <a:t>p.TimeOfTheDaygroup</a:t>
            </a:r>
            <a:r>
              <a:rPr lang="en-IN" sz="1400" dirty="0"/>
              <a:t> by </a:t>
            </a:r>
            <a:r>
              <a:rPr lang="en-IN" sz="1400" dirty="0" err="1"/>
              <a:t>m.item_name</a:t>
            </a:r>
            <a:r>
              <a:rPr lang="en-IN" sz="1400" dirty="0"/>
              <a:t>, </a:t>
            </a:r>
            <a:r>
              <a:rPr lang="en-IN" sz="1400" dirty="0" err="1"/>
              <a:t>m.categoryorder</a:t>
            </a:r>
            <a:r>
              <a:rPr lang="en-IN" sz="1400" dirty="0"/>
              <a:t> by </a:t>
            </a:r>
            <a:r>
              <a:rPr lang="en-IN" sz="1400" dirty="0" err="1"/>
              <a:t>NumberOfOrders</a:t>
            </a:r>
            <a:r>
              <a:rPr lang="en-IN" sz="1400" dirty="0"/>
              <a:t> </a:t>
            </a:r>
            <a:r>
              <a:rPr lang="en-IN" sz="1400" dirty="0" err="1"/>
              <a:t>Desclimit</a:t>
            </a:r>
            <a:r>
              <a:rPr lang="en-IN" sz="1400" dirty="0"/>
              <a:t> 10;</a:t>
            </a:r>
          </a:p>
        </p:txBody>
      </p:sp>
      <p:sp>
        <p:nvSpPr>
          <p:cNvPr id="6" name="Rectangle 5">
            <a:extLst>
              <a:ext uri="{FF2B5EF4-FFF2-40B4-BE49-F238E27FC236}">
                <a16:creationId xmlns:a16="http://schemas.microsoft.com/office/drawing/2014/main" id="{80AE9A5F-BDD5-6156-2BB5-F4559EE084E6}"/>
              </a:ext>
            </a:extLst>
          </p:cNvPr>
          <p:cNvSpPr/>
          <p:nvPr/>
        </p:nvSpPr>
        <p:spPr>
          <a:xfrm>
            <a:off x="589935" y="5810865"/>
            <a:ext cx="4778478" cy="963561"/>
          </a:xfrm>
          <a:prstGeom prst="rect">
            <a:avLst/>
          </a:prstGeom>
          <a:solidFill>
            <a:schemeClr val="bg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endParaRPr lang="en-US" b="1" dirty="0">
              <a:ln/>
              <a:solidFill>
                <a:schemeClr val="accent4"/>
              </a:solidFill>
            </a:endParaRPr>
          </a:p>
        </p:txBody>
      </p:sp>
      <p:pic>
        <p:nvPicPr>
          <p:cNvPr id="7" name="Picture 6">
            <a:extLst>
              <a:ext uri="{FF2B5EF4-FFF2-40B4-BE49-F238E27FC236}">
                <a16:creationId xmlns:a16="http://schemas.microsoft.com/office/drawing/2014/main" id="{A7B43B5C-DD79-EA96-C4A6-4DE356095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0006" y="1889761"/>
            <a:ext cx="4310074" cy="2743199"/>
          </a:xfrm>
          <a:prstGeom prst="rect">
            <a:avLst/>
          </a:prstGeom>
        </p:spPr>
      </p:pic>
    </p:spTree>
    <p:extLst>
      <p:ext uri="{BB962C8B-B14F-4D97-AF65-F5344CB8AC3E}">
        <p14:creationId xmlns:p14="http://schemas.microsoft.com/office/powerpoint/2010/main" val="586684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33398FF-4EC6-45F5-0986-2C1414CD665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D8987DE-FFAD-1E88-B414-B62775FA4007}"/>
              </a:ext>
            </a:extLst>
          </p:cNvPr>
          <p:cNvSpPr/>
          <p:nvPr/>
        </p:nvSpPr>
        <p:spPr>
          <a:xfrm>
            <a:off x="2998839" y="452284"/>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Total orders by day of week</a:t>
            </a:r>
          </a:p>
        </p:txBody>
      </p:sp>
      <p:sp>
        <p:nvSpPr>
          <p:cNvPr id="12" name="Rectangle 11">
            <a:extLst>
              <a:ext uri="{FF2B5EF4-FFF2-40B4-BE49-F238E27FC236}">
                <a16:creationId xmlns:a16="http://schemas.microsoft.com/office/drawing/2014/main" id="{6DD7C0C8-3F14-BEE9-3A3D-B14DD3AE5EEA}"/>
              </a:ext>
            </a:extLst>
          </p:cNvPr>
          <p:cNvSpPr/>
          <p:nvPr/>
        </p:nvSpPr>
        <p:spPr>
          <a:xfrm>
            <a:off x="9094839" y="4168877"/>
            <a:ext cx="2910348" cy="2576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day_name, count(distinct order_id) as numberofordersfrom order_detailsgroup by day_name order by 2 desc;</a:t>
            </a:r>
            <a:endParaRPr lang="en-IN" dirty="0"/>
          </a:p>
        </p:txBody>
      </p:sp>
      <p:graphicFrame>
        <p:nvGraphicFramePr>
          <p:cNvPr id="2" name="Chart 1">
            <a:extLst>
              <a:ext uri="{FF2B5EF4-FFF2-40B4-BE49-F238E27FC236}">
                <a16:creationId xmlns:a16="http://schemas.microsoft.com/office/drawing/2014/main" id="{921F397D-58F4-5319-E4B5-1485ED689030}"/>
              </a:ext>
            </a:extLst>
          </p:cNvPr>
          <p:cNvGraphicFramePr>
            <a:graphicFrameLocks/>
          </p:cNvGraphicFramePr>
          <p:nvPr>
            <p:extLst>
              <p:ext uri="{D42A27DB-BD31-4B8C-83A1-F6EECF244321}">
                <p14:modId xmlns:p14="http://schemas.microsoft.com/office/powerpoint/2010/main" val="4089562560"/>
              </p:ext>
            </p:extLst>
          </p:nvPr>
        </p:nvGraphicFramePr>
        <p:xfrm>
          <a:off x="2998838" y="1858297"/>
          <a:ext cx="5289755" cy="3352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9289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C4DA6B2-8E6A-B505-9681-6E9BAAB51DA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394E753-03B5-5B1A-7FF6-DC504C28FD8B}"/>
              </a:ext>
            </a:extLst>
          </p:cNvPr>
          <p:cNvSpPr/>
          <p:nvPr/>
        </p:nvSpPr>
        <p:spPr>
          <a:xfrm>
            <a:off x="2733367" y="432619"/>
            <a:ext cx="6538452"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Top 5 highest value order IDs with item names and amount spent</a:t>
            </a:r>
          </a:p>
        </p:txBody>
      </p:sp>
      <p:sp>
        <p:nvSpPr>
          <p:cNvPr id="12" name="Rectangle 11">
            <a:extLst>
              <a:ext uri="{FF2B5EF4-FFF2-40B4-BE49-F238E27FC236}">
                <a16:creationId xmlns:a16="http://schemas.microsoft.com/office/drawing/2014/main" id="{0B4A9A2D-2628-6654-798C-75A7BED7CA4B}"/>
              </a:ext>
            </a:extLst>
          </p:cNvPr>
          <p:cNvSpPr/>
          <p:nvPr/>
        </p:nvSpPr>
        <p:spPr>
          <a:xfrm>
            <a:off x="7511845" y="5515897"/>
            <a:ext cx="4493343" cy="1229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t>with </a:t>
            </a:r>
            <a:r>
              <a:rPr lang="en-IN" sz="1050" dirty="0" err="1"/>
              <a:t>highestvalue</a:t>
            </a:r>
            <a:r>
              <a:rPr lang="en-IN" sz="1050" dirty="0"/>
              <a:t> as (select </a:t>
            </a:r>
            <a:r>
              <a:rPr lang="en-IN" sz="1050" dirty="0" err="1"/>
              <a:t>order_id,sum</a:t>
            </a:r>
            <a:r>
              <a:rPr lang="en-IN" sz="1050" dirty="0"/>
              <a:t>(price) as </a:t>
            </a:r>
            <a:r>
              <a:rPr lang="en-IN" sz="1050" dirty="0" err="1"/>
              <a:t>totalorderPRICEfrom</a:t>
            </a:r>
            <a:r>
              <a:rPr lang="en-IN" sz="1050" dirty="0"/>
              <a:t> </a:t>
            </a:r>
            <a:r>
              <a:rPr lang="en-IN" sz="1050" dirty="0" err="1"/>
              <a:t>order_details</a:t>
            </a:r>
            <a:r>
              <a:rPr lang="en-IN" sz="1050" dirty="0"/>
              <a:t> o inner join </a:t>
            </a:r>
            <a:r>
              <a:rPr lang="en-IN" sz="1050" dirty="0" err="1"/>
              <a:t>menu_items</a:t>
            </a:r>
            <a:r>
              <a:rPr lang="en-IN" sz="1050" dirty="0"/>
              <a:t> m on </a:t>
            </a:r>
            <a:r>
              <a:rPr lang="en-IN" sz="1050" dirty="0" err="1"/>
              <a:t>o.item_id</a:t>
            </a:r>
            <a:r>
              <a:rPr lang="en-IN" sz="1050" dirty="0"/>
              <a:t> = </a:t>
            </a:r>
            <a:r>
              <a:rPr lang="en-IN" sz="1050" dirty="0" err="1"/>
              <a:t>m.menu_item_idgroup</a:t>
            </a:r>
            <a:r>
              <a:rPr lang="en-IN" sz="1050" dirty="0"/>
              <a:t> by </a:t>
            </a:r>
            <a:r>
              <a:rPr lang="en-IN" sz="1050" dirty="0" err="1"/>
              <a:t>order_idorder</a:t>
            </a:r>
            <a:r>
              <a:rPr lang="en-IN" sz="1050" dirty="0"/>
              <a:t> by 2 </a:t>
            </a:r>
            <a:r>
              <a:rPr lang="en-IN" sz="1050" dirty="0" err="1"/>
              <a:t>desc</a:t>
            </a:r>
            <a:r>
              <a:rPr lang="en-IN" sz="1050" dirty="0"/>
              <a:t> limit 5)select </a:t>
            </a:r>
            <a:r>
              <a:rPr lang="en-IN" sz="1050" dirty="0" err="1"/>
              <a:t>h.order_id</a:t>
            </a:r>
            <a:r>
              <a:rPr lang="en-IN" sz="1050" dirty="0"/>
              <a:t> , </a:t>
            </a:r>
            <a:r>
              <a:rPr lang="en-IN" sz="1050" dirty="0" err="1"/>
              <a:t>item_name</a:t>
            </a:r>
            <a:r>
              <a:rPr lang="en-IN" sz="1050" dirty="0"/>
              <a:t>, sum(price) over (partition by </a:t>
            </a:r>
            <a:r>
              <a:rPr lang="en-IN" sz="1050" dirty="0" err="1"/>
              <a:t>h.order_id,item_name</a:t>
            </a:r>
            <a:r>
              <a:rPr lang="en-IN" sz="1050" dirty="0"/>
              <a:t> order by sum(price) </a:t>
            </a:r>
            <a:r>
              <a:rPr lang="en-IN" sz="1050" dirty="0" err="1"/>
              <a:t>desc</a:t>
            </a:r>
            <a:r>
              <a:rPr lang="en-IN" sz="1050" dirty="0"/>
              <a:t>) as </a:t>
            </a:r>
            <a:r>
              <a:rPr lang="en-IN" sz="1050" dirty="0" err="1"/>
              <a:t>totalpricefrom</a:t>
            </a:r>
            <a:r>
              <a:rPr lang="en-IN" sz="1050" dirty="0"/>
              <a:t> </a:t>
            </a:r>
            <a:r>
              <a:rPr lang="en-IN" sz="1050" dirty="0" err="1"/>
              <a:t>order_details</a:t>
            </a:r>
            <a:r>
              <a:rPr lang="en-IN" sz="1050" dirty="0"/>
              <a:t> o inner join </a:t>
            </a:r>
            <a:r>
              <a:rPr lang="en-IN" sz="1050" dirty="0" err="1"/>
              <a:t>menu_items</a:t>
            </a:r>
            <a:r>
              <a:rPr lang="en-IN" sz="1050" dirty="0"/>
              <a:t> m on </a:t>
            </a:r>
            <a:r>
              <a:rPr lang="en-IN" sz="1050" dirty="0" err="1"/>
              <a:t>o.item_id</a:t>
            </a:r>
            <a:r>
              <a:rPr lang="en-IN" sz="1050" dirty="0"/>
              <a:t> = </a:t>
            </a:r>
            <a:r>
              <a:rPr lang="en-IN" sz="1050" dirty="0" err="1"/>
              <a:t>m.menu_item_id</a:t>
            </a:r>
            <a:r>
              <a:rPr lang="en-IN" sz="1050" dirty="0"/>
              <a:t> inner join </a:t>
            </a:r>
            <a:r>
              <a:rPr lang="en-IN" sz="1050" dirty="0" err="1"/>
              <a:t>highestvalue</a:t>
            </a:r>
            <a:r>
              <a:rPr lang="en-IN" sz="1050" dirty="0"/>
              <a:t> h on </a:t>
            </a:r>
            <a:r>
              <a:rPr lang="en-IN" sz="1050" dirty="0" err="1"/>
              <a:t>o.order_id</a:t>
            </a:r>
            <a:r>
              <a:rPr lang="en-IN" sz="1050" dirty="0"/>
              <a:t> = </a:t>
            </a:r>
            <a:r>
              <a:rPr lang="en-IN" sz="1050" dirty="0" err="1"/>
              <a:t>h.order_idgroup</a:t>
            </a:r>
            <a:r>
              <a:rPr lang="en-IN" sz="1050" dirty="0"/>
              <a:t> by </a:t>
            </a:r>
            <a:r>
              <a:rPr lang="en-IN" sz="1050" dirty="0" err="1"/>
              <a:t>order_id</a:t>
            </a:r>
            <a:r>
              <a:rPr lang="en-IN" sz="1050" dirty="0"/>
              <a:t> , </a:t>
            </a:r>
            <a:r>
              <a:rPr lang="en-IN" sz="1050" dirty="0" err="1"/>
              <a:t>item_name</a:t>
            </a:r>
            <a:r>
              <a:rPr lang="en-IN" sz="1050" dirty="0"/>
              <a:t>;</a:t>
            </a:r>
          </a:p>
        </p:txBody>
      </p:sp>
      <p:graphicFrame>
        <p:nvGraphicFramePr>
          <p:cNvPr id="4" name="Chart 3">
            <a:extLst>
              <a:ext uri="{FF2B5EF4-FFF2-40B4-BE49-F238E27FC236}">
                <a16:creationId xmlns:a16="http://schemas.microsoft.com/office/drawing/2014/main" id="{B7692051-1B14-EE3B-52AA-0B348D77150F}"/>
              </a:ext>
            </a:extLst>
          </p:cNvPr>
          <p:cNvGraphicFramePr>
            <a:graphicFrameLocks/>
          </p:cNvGraphicFramePr>
          <p:nvPr>
            <p:extLst>
              <p:ext uri="{D42A27DB-BD31-4B8C-83A1-F6EECF244321}">
                <p14:modId xmlns:p14="http://schemas.microsoft.com/office/powerpoint/2010/main" val="1351003874"/>
              </p:ext>
            </p:extLst>
          </p:nvPr>
        </p:nvGraphicFramePr>
        <p:xfrm>
          <a:off x="157316" y="1701164"/>
          <a:ext cx="11847872" cy="35492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40895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32379AE-6D87-2A74-C5C6-E1A0C82E008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30E03FB-AF16-3503-6143-7563969E3DC4}"/>
              </a:ext>
            </a:extLst>
          </p:cNvPr>
          <p:cNvSpPr/>
          <p:nvPr/>
        </p:nvSpPr>
        <p:spPr>
          <a:xfrm>
            <a:off x="1553497" y="432619"/>
            <a:ext cx="8327922"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Category wise total items ordered in top 5 highest value orders</a:t>
            </a:r>
          </a:p>
        </p:txBody>
      </p:sp>
      <p:sp>
        <p:nvSpPr>
          <p:cNvPr id="12" name="Rectangle 11">
            <a:extLst>
              <a:ext uri="{FF2B5EF4-FFF2-40B4-BE49-F238E27FC236}">
                <a16:creationId xmlns:a16="http://schemas.microsoft.com/office/drawing/2014/main" id="{928B29F6-B282-6873-4D21-9CE9CF490B7E}"/>
              </a:ext>
            </a:extLst>
          </p:cNvPr>
          <p:cNvSpPr/>
          <p:nvPr/>
        </p:nvSpPr>
        <p:spPr>
          <a:xfrm>
            <a:off x="8495071" y="5043948"/>
            <a:ext cx="3510117" cy="17009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select category, count(</a:t>
            </a:r>
            <a:r>
              <a:rPr lang="en-US" sz="1400" dirty="0" err="1"/>
              <a:t>item_id</a:t>
            </a:r>
            <a:r>
              <a:rPr lang="en-US" sz="1400" dirty="0"/>
              <a:t>) as </a:t>
            </a:r>
            <a:r>
              <a:rPr lang="en-US" sz="1400" dirty="0" err="1"/>
              <a:t>total_items_orderedfrom</a:t>
            </a:r>
            <a:r>
              <a:rPr lang="en-US" sz="1400" dirty="0"/>
              <a:t> </a:t>
            </a:r>
            <a:r>
              <a:rPr lang="en-US" sz="1400" dirty="0" err="1"/>
              <a:t>order_details</a:t>
            </a:r>
            <a:r>
              <a:rPr lang="en-US" sz="1400" dirty="0"/>
              <a:t> o inner join </a:t>
            </a:r>
            <a:r>
              <a:rPr lang="en-US" sz="1400" dirty="0" err="1"/>
              <a:t>menu_items</a:t>
            </a:r>
            <a:r>
              <a:rPr lang="en-US" sz="1400" dirty="0"/>
              <a:t> m on </a:t>
            </a:r>
            <a:r>
              <a:rPr lang="en-US" sz="1400" dirty="0" err="1"/>
              <a:t>o.item_id</a:t>
            </a:r>
            <a:r>
              <a:rPr lang="en-US" sz="1400" dirty="0"/>
              <a:t>=</a:t>
            </a:r>
            <a:r>
              <a:rPr lang="en-US" sz="1400" dirty="0" err="1"/>
              <a:t>m.menu_item_idwhere</a:t>
            </a:r>
            <a:r>
              <a:rPr lang="en-US" sz="1400" dirty="0"/>
              <a:t> </a:t>
            </a:r>
            <a:r>
              <a:rPr lang="en-US" sz="1400" dirty="0" err="1"/>
              <a:t>order_id</a:t>
            </a:r>
            <a:r>
              <a:rPr lang="en-US" sz="1400" dirty="0"/>
              <a:t> in(440,2075,1957,330,2675)group by </a:t>
            </a:r>
            <a:r>
              <a:rPr lang="en-US" sz="1400" dirty="0" err="1"/>
              <a:t>categoryorder</a:t>
            </a:r>
            <a:r>
              <a:rPr lang="en-US" sz="1400" dirty="0"/>
              <a:t> by 2 desc;</a:t>
            </a:r>
            <a:endParaRPr lang="en-IN" sz="1400" dirty="0"/>
          </a:p>
        </p:txBody>
      </p:sp>
      <p:graphicFrame>
        <p:nvGraphicFramePr>
          <p:cNvPr id="2" name="Chart 1">
            <a:extLst>
              <a:ext uri="{FF2B5EF4-FFF2-40B4-BE49-F238E27FC236}">
                <a16:creationId xmlns:a16="http://schemas.microsoft.com/office/drawing/2014/main" id="{68F444AA-6AC2-4BCC-A488-C11C317DE4FB}"/>
              </a:ext>
            </a:extLst>
          </p:cNvPr>
          <p:cNvGraphicFramePr>
            <a:graphicFrameLocks/>
          </p:cNvGraphicFramePr>
          <p:nvPr>
            <p:extLst>
              <p:ext uri="{D42A27DB-BD31-4B8C-83A1-F6EECF244321}">
                <p14:modId xmlns:p14="http://schemas.microsoft.com/office/powerpoint/2010/main" val="681769657"/>
              </p:ext>
            </p:extLst>
          </p:nvPr>
        </p:nvGraphicFramePr>
        <p:xfrm>
          <a:off x="3048000" y="1976284"/>
          <a:ext cx="5702710" cy="28243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80791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BC4BCC-B9A6-D99A-9503-CC9098D00BC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F1ECA65-C281-F4DF-A58A-7EB076F11849}"/>
              </a:ext>
            </a:extLst>
          </p:cNvPr>
          <p:cNvSpPr/>
          <p:nvPr/>
        </p:nvSpPr>
        <p:spPr>
          <a:xfrm>
            <a:off x="2448232" y="432619"/>
            <a:ext cx="6164826"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Top 10 bestselling items with total order price</a:t>
            </a:r>
          </a:p>
        </p:txBody>
      </p:sp>
      <p:sp>
        <p:nvSpPr>
          <p:cNvPr id="12" name="Rectangle 11">
            <a:extLst>
              <a:ext uri="{FF2B5EF4-FFF2-40B4-BE49-F238E27FC236}">
                <a16:creationId xmlns:a16="http://schemas.microsoft.com/office/drawing/2014/main" id="{43771FC7-9E14-BCF7-C7BB-86A97F986A93}"/>
              </a:ext>
            </a:extLst>
          </p:cNvPr>
          <p:cNvSpPr/>
          <p:nvPr/>
        </p:nvSpPr>
        <p:spPr>
          <a:xfrm>
            <a:off x="7777316" y="4748981"/>
            <a:ext cx="4227871" cy="19959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with top5 as (with </a:t>
            </a:r>
            <a:r>
              <a:rPr lang="en-IN" sz="1200" dirty="0" err="1"/>
              <a:t>highestvalue</a:t>
            </a:r>
            <a:r>
              <a:rPr lang="en-IN" sz="1200" dirty="0"/>
              <a:t> as (select </a:t>
            </a:r>
            <a:r>
              <a:rPr lang="en-IN" sz="1200" dirty="0" err="1"/>
              <a:t>order_id,sum</a:t>
            </a:r>
            <a:r>
              <a:rPr lang="en-IN" sz="1200" dirty="0"/>
              <a:t>(price) as </a:t>
            </a:r>
            <a:r>
              <a:rPr lang="en-IN" sz="1200" dirty="0" err="1"/>
              <a:t>totalorderPRICEfrom</a:t>
            </a:r>
            <a:r>
              <a:rPr lang="en-IN" sz="1200" dirty="0"/>
              <a:t> </a:t>
            </a:r>
            <a:r>
              <a:rPr lang="en-IN" sz="1200" dirty="0" err="1"/>
              <a:t>order_details</a:t>
            </a:r>
            <a:r>
              <a:rPr lang="en-IN" sz="1200" dirty="0"/>
              <a:t> o inner join </a:t>
            </a:r>
            <a:r>
              <a:rPr lang="en-IN" sz="1200" dirty="0" err="1"/>
              <a:t>menu_items</a:t>
            </a:r>
            <a:r>
              <a:rPr lang="en-IN" sz="1200" dirty="0"/>
              <a:t> m on </a:t>
            </a:r>
            <a:r>
              <a:rPr lang="en-IN" sz="1200" dirty="0" err="1"/>
              <a:t>o.item_id</a:t>
            </a:r>
            <a:r>
              <a:rPr lang="en-IN" sz="1200" dirty="0"/>
              <a:t> = </a:t>
            </a:r>
            <a:r>
              <a:rPr lang="en-IN" sz="1200" dirty="0" err="1"/>
              <a:t>m.menu_item_idgroup</a:t>
            </a:r>
            <a:r>
              <a:rPr lang="en-IN" sz="1200" dirty="0"/>
              <a:t> by </a:t>
            </a:r>
            <a:r>
              <a:rPr lang="en-IN" sz="1200" dirty="0" err="1"/>
              <a:t>order_idorder</a:t>
            </a:r>
            <a:r>
              <a:rPr lang="en-IN" sz="1200" dirty="0"/>
              <a:t> by 2 </a:t>
            </a:r>
            <a:r>
              <a:rPr lang="en-IN" sz="1200" dirty="0" err="1"/>
              <a:t>desc</a:t>
            </a:r>
            <a:r>
              <a:rPr lang="en-IN" sz="1200" dirty="0"/>
              <a:t> limit 5)select </a:t>
            </a:r>
            <a:r>
              <a:rPr lang="en-IN" sz="1200" dirty="0" err="1"/>
              <a:t>h.order_id</a:t>
            </a:r>
            <a:r>
              <a:rPr lang="en-IN" sz="1200" dirty="0"/>
              <a:t> , </a:t>
            </a:r>
            <a:r>
              <a:rPr lang="en-IN" sz="1200" dirty="0" err="1"/>
              <a:t>item_name</a:t>
            </a:r>
            <a:r>
              <a:rPr lang="en-IN" sz="1200" dirty="0"/>
              <a:t>, sum(price) over (partition by </a:t>
            </a:r>
            <a:r>
              <a:rPr lang="en-IN" sz="1200" dirty="0" err="1"/>
              <a:t>h.order_id,item_name</a:t>
            </a:r>
            <a:r>
              <a:rPr lang="en-IN" sz="1200" dirty="0"/>
              <a:t> order by sum(price) </a:t>
            </a:r>
            <a:r>
              <a:rPr lang="en-IN" sz="1200" dirty="0" err="1"/>
              <a:t>desc</a:t>
            </a:r>
            <a:r>
              <a:rPr lang="en-IN" sz="1200" dirty="0"/>
              <a:t>) as </a:t>
            </a:r>
            <a:r>
              <a:rPr lang="en-IN" sz="1200" dirty="0" err="1"/>
              <a:t>totalpricefrom</a:t>
            </a:r>
            <a:r>
              <a:rPr lang="en-IN" sz="1200" dirty="0"/>
              <a:t> </a:t>
            </a:r>
            <a:r>
              <a:rPr lang="en-IN" sz="1200" dirty="0" err="1"/>
              <a:t>order_details</a:t>
            </a:r>
            <a:r>
              <a:rPr lang="en-IN" sz="1200" dirty="0"/>
              <a:t> o inner join </a:t>
            </a:r>
            <a:r>
              <a:rPr lang="en-IN" sz="1200" dirty="0" err="1"/>
              <a:t>menu_items</a:t>
            </a:r>
            <a:r>
              <a:rPr lang="en-IN" sz="1200" dirty="0"/>
              <a:t> m on </a:t>
            </a:r>
            <a:r>
              <a:rPr lang="en-IN" sz="1200" dirty="0" err="1"/>
              <a:t>o.item_id</a:t>
            </a:r>
            <a:r>
              <a:rPr lang="en-IN" sz="1200" dirty="0"/>
              <a:t> = </a:t>
            </a:r>
            <a:r>
              <a:rPr lang="en-IN" sz="1200" dirty="0" err="1"/>
              <a:t>m.menu_item_id</a:t>
            </a:r>
            <a:r>
              <a:rPr lang="en-IN" sz="1200" dirty="0"/>
              <a:t> inner join </a:t>
            </a:r>
            <a:r>
              <a:rPr lang="en-IN" sz="1200" dirty="0" err="1"/>
              <a:t>highestvalue</a:t>
            </a:r>
            <a:r>
              <a:rPr lang="en-IN" sz="1200" dirty="0"/>
              <a:t> h on </a:t>
            </a:r>
            <a:r>
              <a:rPr lang="en-IN" sz="1200" dirty="0" err="1"/>
              <a:t>o.order_id</a:t>
            </a:r>
            <a:r>
              <a:rPr lang="en-IN" sz="1200" dirty="0"/>
              <a:t> = </a:t>
            </a:r>
            <a:r>
              <a:rPr lang="en-IN" sz="1200" dirty="0" err="1"/>
              <a:t>h.order_idgroup</a:t>
            </a:r>
            <a:r>
              <a:rPr lang="en-IN" sz="1200" dirty="0"/>
              <a:t> by </a:t>
            </a:r>
            <a:r>
              <a:rPr lang="en-IN" sz="1200" dirty="0" err="1"/>
              <a:t>order_id</a:t>
            </a:r>
            <a:r>
              <a:rPr lang="en-IN" sz="1200" dirty="0"/>
              <a:t> , </a:t>
            </a:r>
            <a:r>
              <a:rPr lang="en-IN" sz="1200" dirty="0" err="1"/>
              <a:t>item_name</a:t>
            </a:r>
            <a:r>
              <a:rPr lang="en-IN" sz="1200" dirty="0"/>
              <a:t>)select </a:t>
            </a:r>
            <a:r>
              <a:rPr lang="en-IN" sz="1200" dirty="0" err="1"/>
              <a:t>item_name</a:t>
            </a:r>
            <a:r>
              <a:rPr lang="en-IN" sz="1200" dirty="0"/>
              <a:t>, sum(</a:t>
            </a:r>
            <a:r>
              <a:rPr lang="en-IN" sz="1200" dirty="0" err="1"/>
              <a:t>totalprice</a:t>
            </a:r>
            <a:r>
              <a:rPr lang="en-IN" sz="1200" dirty="0"/>
              <a:t>) </a:t>
            </a:r>
            <a:r>
              <a:rPr lang="en-IN" sz="1200" dirty="0" err="1"/>
              <a:t>total_pricefrom</a:t>
            </a:r>
            <a:r>
              <a:rPr lang="en-IN" sz="1200" dirty="0"/>
              <a:t> top5group by </a:t>
            </a:r>
            <a:r>
              <a:rPr lang="en-IN" sz="1200" dirty="0" err="1"/>
              <a:t>item_nameorder</a:t>
            </a:r>
            <a:r>
              <a:rPr lang="en-IN" sz="1200" dirty="0"/>
              <a:t> by 2 </a:t>
            </a:r>
            <a:r>
              <a:rPr lang="en-IN" sz="1200" dirty="0" err="1"/>
              <a:t>desc</a:t>
            </a:r>
            <a:r>
              <a:rPr lang="en-IN" sz="1200" dirty="0"/>
              <a:t> limit 10;</a:t>
            </a:r>
          </a:p>
        </p:txBody>
      </p:sp>
      <p:graphicFrame>
        <p:nvGraphicFramePr>
          <p:cNvPr id="2" name="Chart 1">
            <a:extLst>
              <a:ext uri="{FF2B5EF4-FFF2-40B4-BE49-F238E27FC236}">
                <a16:creationId xmlns:a16="http://schemas.microsoft.com/office/drawing/2014/main" id="{3B57F328-3174-FAF7-1475-7DD2A69034DA}"/>
              </a:ext>
            </a:extLst>
          </p:cNvPr>
          <p:cNvGraphicFramePr>
            <a:graphicFrameLocks/>
          </p:cNvGraphicFramePr>
          <p:nvPr>
            <p:extLst>
              <p:ext uri="{D42A27DB-BD31-4B8C-83A1-F6EECF244321}">
                <p14:modId xmlns:p14="http://schemas.microsoft.com/office/powerpoint/2010/main" val="3007817100"/>
              </p:ext>
            </p:extLst>
          </p:nvPr>
        </p:nvGraphicFramePr>
        <p:xfrm>
          <a:off x="1656080" y="1513841"/>
          <a:ext cx="8294165" cy="297950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60115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0E03BAA-92CC-6DEF-52B9-ACEFC226A59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49E36BB-43F9-22DA-9BE1-4E7E5E7CA89A}"/>
              </a:ext>
            </a:extLst>
          </p:cNvPr>
          <p:cNvSpPr/>
          <p:nvPr/>
        </p:nvSpPr>
        <p:spPr>
          <a:xfrm>
            <a:off x="2733367" y="432619"/>
            <a:ext cx="574203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Category wise total items in top 5 orders</a:t>
            </a:r>
          </a:p>
        </p:txBody>
      </p:sp>
      <p:sp>
        <p:nvSpPr>
          <p:cNvPr id="12" name="Rectangle 11">
            <a:extLst>
              <a:ext uri="{FF2B5EF4-FFF2-40B4-BE49-F238E27FC236}">
                <a16:creationId xmlns:a16="http://schemas.microsoft.com/office/drawing/2014/main" id="{A9D55290-9D1C-89B7-0843-86E3A531E1B1}"/>
              </a:ext>
            </a:extLst>
          </p:cNvPr>
          <p:cNvSpPr/>
          <p:nvPr/>
        </p:nvSpPr>
        <p:spPr>
          <a:xfrm>
            <a:off x="9094839" y="4168877"/>
            <a:ext cx="2910348" cy="2576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with highestvalue as (select order_id,sum(price) as totalorderPRICEfrom order_details o inner join menu_items m on o.item_id = m.menu_item_idgroup by order_idorder by 2 desc limit 5)select  category, count(item_id) as number_of_itemsfrom order_details o inner join menu_items m on o.item_id = m.menu_item_id inner join highestvalue h on o.order_id = h.order_idgroup by  categoryorder by 2 desc;</a:t>
            </a:r>
            <a:endParaRPr lang="en-IN" sz="1200" dirty="0"/>
          </a:p>
        </p:txBody>
      </p:sp>
      <p:graphicFrame>
        <p:nvGraphicFramePr>
          <p:cNvPr id="2" name="Chart 1">
            <a:extLst>
              <a:ext uri="{FF2B5EF4-FFF2-40B4-BE49-F238E27FC236}">
                <a16:creationId xmlns:a16="http://schemas.microsoft.com/office/drawing/2014/main" id="{2F81BA46-019E-4826-5366-4880C99692A0}"/>
              </a:ext>
            </a:extLst>
          </p:cNvPr>
          <p:cNvGraphicFramePr>
            <a:graphicFrameLocks/>
          </p:cNvGraphicFramePr>
          <p:nvPr>
            <p:extLst>
              <p:ext uri="{D42A27DB-BD31-4B8C-83A1-F6EECF244321}">
                <p14:modId xmlns:p14="http://schemas.microsoft.com/office/powerpoint/2010/main" val="580507151"/>
              </p:ext>
            </p:extLst>
          </p:nvPr>
        </p:nvGraphicFramePr>
        <p:xfrm>
          <a:off x="2290916" y="1789471"/>
          <a:ext cx="6459679" cy="35268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21842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B84F857-3F35-C397-55BA-E56DAE7840D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04214F2-0E5C-3E58-0789-319DE3E21212}"/>
              </a:ext>
            </a:extLst>
          </p:cNvPr>
          <p:cNvSpPr/>
          <p:nvPr/>
        </p:nvSpPr>
        <p:spPr>
          <a:xfrm>
            <a:off x="190192" y="327844"/>
            <a:ext cx="2920365" cy="4817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Category wise menu items</a:t>
            </a:r>
          </a:p>
        </p:txBody>
      </p:sp>
      <p:sp>
        <p:nvSpPr>
          <p:cNvPr id="12" name="Rectangle 11">
            <a:extLst>
              <a:ext uri="{FF2B5EF4-FFF2-40B4-BE49-F238E27FC236}">
                <a16:creationId xmlns:a16="http://schemas.microsoft.com/office/drawing/2014/main" id="{9FF23D2D-B4FA-9C65-D5D7-F9AE61872B75}"/>
              </a:ext>
            </a:extLst>
          </p:cNvPr>
          <p:cNvSpPr/>
          <p:nvPr/>
        </p:nvSpPr>
        <p:spPr>
          <a:xfrm>
            <a:off x="9094839" y="4975123"/>
            <a:ext cx="2910348" cy="17698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category , sum( price) as total_revenue from  order_details o inner join menu_items m on o.item_id = m.menu_item_idgroup by categoryorder by 2 desc;</a:t>
            </a:r>
            <a:endParaRPr lang="en-IN" dirty="0"/>
          </a:p>
        </p:txBody>
      </p:sp>
      <p:graphicFrame>
        <p:nvGraphicFramePr>
          <p:cNvPr id="2" name="Chart 1">
            <a:extLst>
              <a:ext uri="{FF2B5EF4-FFF2-40B4-BE49-F238E27FC236}">
                <a16:creationId xmlns:a16="http://schemas.microsoft.com/office/drawing/2014/main" id="{71F3027F-9CD9-7DA0-E3FC-D339E9683158}"/>
              </a:ext>
            </a:extLst>
          </p:cNvPr>
          <p:cNvGraphicFramePr>
            <a:graphicFrameLocks/>
          </p:cNvGraphicFramePr>
          <p:nvPr>
            <p:extLst>
              <p:ext uri="{D42A27DB-BD31-4B8C-83A1-F6EECF244321}">
                <p14:modId xmlns:p14="http://schemas.microsoft.com/office/powerpoint/2010/main" val="3179597166"/>
              </p:ext>
            </p:extLst>
          </p:nvPr>
        </p:nvGraphicFramePr>
        <p:xfrm>
          <a:off x="270510" y="1409700"/>
          <a:ext cx="2920365"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13D22C30-A033-6924-ECBD-7E75F5AB16D5}"/>
              </a:ext>
            </a:extLst>
          </p:cNvPr>
          <p:cNvSpPr/>
          <p:nvPr/>
        </p:nvSpPr>
        <p:spPr>
          <a:xfrm>
            <a:off x="4191000" y="327844"/>
            <a:ext cx="2619375" cy="4817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Category wise orders</a:t>
            </a:r>
            <a:endParaRPr lang="en-IN" sz="2000" dirty="0"/>
          </a:p>
        </p:txBody>
      </p:sp>
      <p:sp>
        <p:nvSpPr>
          <p:cNvPr id="4" name="Rectangle 3">
            <a:extLst>
              <a:ext uri="{FF2B5EF4-FFF2-40B4-BE49-F238E27FC236}">
                <a16:creationId xmlns:a16="http://schemas.microsoft.com/office/drawing/2014/main" id="{DD6C7E91-3338-C0AA-FD74-46A2DBFD9FE9}"/>
              </a:ext>
            </a:extLst>
          </p:cNvPr>
          <p:cNvSpPr/>
          <p:nvPr/>
        </p:nvSpPr>
        <p:spPr>
          <a:xfrm>
            <a:off x="8629650" y="327845"/>
            <a:ext cx="2619375" cy="481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Category wise revenue</a:t>
            </a:r>
            <a:endParaRPr lang="en-IN" sz="2000" dirty="0"/>
          </a:p>
        </p:txBody>
      </p:sp>
      <p:graphicFrame>
        <p:nvGraphicFramePr>
          <p:cNvPr id="5" name="Chart 4">
            <a:extLst>
              <a:ext uri="{FF2B5EF4-FFF2-40B4-BE49-F238E27FC236}">
                <a16:creationId xmlns:a16="http://schemas.microsoft.com/office/drawing/2014/main" id="{7E0EDB81-C6AE-D926-E01B-E8DE9142BBAE}"/>
              </a:ext>
            </a:extLst>
          </p:cNvPr>
          <p:cNvGraphicFramePr>
            <a:graphicFrameLocks/>
          </p:cNvGraphicFramePr>
          <p:nvPr>
            <p:extLst>
              <p:ext uri="{D42A27DB-BD31-4B8C-83A1-F6EECF244321}">
                <p14:modId xmlns:p14="http://schemas.microsoft.com/office/powerpoint/2010/main" val="3237745655"/>
              </p:ext>
            </p:extLst>
          </p:nvPr>
        </p:nvGraphicFramePr>
        <p:xfrm>
          <a:off x="3963352" y="1504950"/>
          <a:ext cx="307467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3830B87B-1061-112F-E581-D7DF46A51601}"/>
              </a:ext>
            </a:extLst>
          </p:cNvPr>
          <p:cNvGraphicFramePr>
            <a:graphicFrameLocks/>
          </p:cNvGraphicFramePr>
          <p:nvPr>
            <p:extLst>
              <p:ext uri="{D42A27DB-BD31-4B8C-83A1-F6EECF244321}">
                <p14:modId xmlns:p14="http://schemas.microsoft.com/office/powerpoint/2010/main" val="3962490204"/>
              </p:ext>
            </p:extLst>
          </p:nvPr>
        </p:nvGraphicFramePr>
        <p:xfrm>
          <a:off x="8172450" y="1457325"/>
          <a:ext cx="32385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D4699384-A966-10F5-36BB-98E6AC2251DA}"/>
              </a:ext>
            </a:extLst>
          </p:cNvPr>
          <p:cNvSpPr/>
          <p:nvPr/>
        </p:nvSpPr>
        <p:spPr>
          <a:xfrm>
            <a:off x="609600" y="5102942"/>
            <a:ext cx="2910348" cy="1356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category , count( menu_item_id) as total_menu_items from  menu_items group by categoryorder by 2 desc;</a:t>
            </a:r>
            <a:endParaRPr lang="en-IN"/>
          </a:p>
        </p:txBody>
      </p:sp>
      <p:sp>
        <p:nvSpPr>
          <p:cNvPr id="8" name="Rectangle 7">
            <a:extLst>
              <a:ext uri="{FF2B5EF4-FFF2-40B4-BE49-F238E27FC236}">
                <a16:creationId xmlns:a16="http://schemas.microsoft.com/office/drawing/2014/main" id="{F4F83662-1B97-8D1C-D57C-A372D4420F14}"/>
              </a:ext>
            </a:extLst>
          </p:cNvPr>
          <p:cNvSpPr/>
          <p:nvPr/>
        </p:nvSpPr>
        <p:spPr>
          <a:xfrm>
            <a:off x="4691062" y="4495184"/>
            <a:ext cx="2809875" cy="22110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category , count(  </a:t>
            </a:r>
            <a:r>
              <a:rPr lang="en-US" dirty="0" err="1"/>
              <a:t>order_id</a:t>
            </a:r>
            <a:r>
              <a:rPr lang="en-US" dirty="0"/>
              <a:t>) </a:t>
            </a:r>
            <a:r>
              <a:rPr lang="en-US" dirty="0" err="1"/>
              <a:t>total_number_of_ordersfrom</a:t>
            </a:r>
            <a:r>
              <a:rPr lang="en-US" dirty="0"/>
              <a:t> </a:t>
            </a:r>
            <a:r>
              <a:rPr lang="en-US" dirty="0" err="1"/>
              <a:t>order_details</a:t>
            </a:r>
            <a:r>
              <a:rPr lang="en-US" dirty="0"/>
              <a:t> o inner join </a:t>
            </a:r>
            <a:r>
              <a:rPr lang="en-US" dirty="0" err="1"/>
              <a:t>menu_items</a:t>
            </a:r>
            <a:r>
              <a:rPr lang="en-US" dirty="0"/>
              <a:t> m on </a:t>
            </a:r>
            <a:r>
              <a:rPr lang="en-US" dirty="0" err="1"/>
              <a:t>o.item_id</a:t>
            </a:r>
            <a:r>
              <a:rPr lang="en-US" dirty="0"/>
              <a:t> = </a:t>
            </a:r>
            <a:r>
              <a:rPr lang="en-US" dirty="0" err="1"/>
              <a:t>m.menu_item_idgroup</a:t>
            </a:r>
            <a:r>
              <a:rPr lang="en-US" dirty="0"/>
              <a:t> by </a:t>
            </a:r>
            <a:r>
              <a:rPr lang="en-US" dirty="0" err="1"/>
              <a:t>categoryorder</a:t>
            </a:r>
            <a:r>
              <a:rPr lang="en-US" dirty="0"/>
              <a:t> by 2 desc;</a:t>
            </a:r>
            <a:endParaRPr lang="en-IN" dirty="0"/>
          </a:p>
        </p:txBody>
      </p:sp>
    </p:spTree>
    <p:extLst>
      <p:ext uri="{BB962C8B-B14F-4D97-AF65-F5344CB8AC3E}">
        <p14:creationId xmlns:p14="http://schemas.microsoft.com/office/powerpoint/2010/main" val="1693107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9DFE06F-70BB-480C-B492-255BB31DE02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7B14FAB-1213-AE2F-9322-88E27CD07FA1}"/>
              </a:ext>
            </a:extLst>
          </p:cNvPr>
          <p:cNvSpPr/>
          <p:nvPr/>
        </p:nvSpPr>
        <p:spPr>
          <a:xfrm>
            <a:off x="2639961" y="432619"/>
            <a:ext cx="6912078"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List of items that are expensive but underperforming</a:t>
            </a:r>
          </a:p>
        </p:txBody>
      </p:sp>
      <p:sp>
        <p:nvSpPr>
          <p:cNvPr id="12" name="Rectangle 11">
            <a:extLst>
              <a:ext uri="{FF2B5EF4-FFF2-40B4-BE49-F238E27FC236}">
                <a16:creationId xmlns:a16="http://schemas.microsoft.com/office/drawing/2014/main" id="{88D6E4DC-297C-25C8-4747-3367A19D8FC0}"/>
              </a:ext>
            </a:extLst>
          </p:cNvPr>
          <p:cNvSpPr/>
          <p:nvPr/>
        </p:nvSpPr>
        <p:spPr>
          <a:xfrm>
            <a:off x="3819832" y="1698521"/>
            <a:ext cx="4321278" cy="40435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a:extLst>
              <a:ext uri="{FF2B5EF4-FFF2-40B4-BE49-F238E27FC236}">
                <a16:creationId xmlns:a16="http://schemas.microsoft.com/office/drawing/2014/main" id="{4F8A8F7C-D9E7-D3FE-7015-B53FFC287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9832" y="1727260"/>
            <a:ext cx="4552336" cy="4043517"/>
          </a:xfrm>
          <a:prstGeom prst="rect">
            <a:avLst/>
          </a:prstGeom>
        </p:spPr>
      </p:pic>
    </p:spTree>
    <p:extLst>
      <p:ext uri="{BB962C8B-B14F-4D97-AF65-F5344CB8AC3E}">
        <p14:creationId xmlns:p14="http://schemas.microsoft.com/office/powerpoint/2010/main" val="52112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BA6F312-E81B-DDAE-12DA-38E509F8495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89E48A1-E407-D815-81BC-D0D963AB552C}"/>
              </a:ext>
            </a:extLst>
          </p:cNvPr>
          <p:cNvSpPr/>
          <p:nvPr/>
        </p:nvSpPr>
        <p:spPr>
          <a:xfrm>
            <a:off x="1504336" y="432619"/>
            <a:ext cx="9183329" cy="757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Top 3 items in each cuisines/ category based on the number of orders</a:t>
            </a:r>
          </a:p>
        </p:txBody>
      </p:sp>
      <p:sp>
        <p:nvSpPr>
          <p:cNvPr id="12" name="Rectangle 11">
            <a:extLst>
              <a:ext uri="{FF2B5EF4-FFF2-40B4-BE49-F238E27FC236}">
                <a16:creationId xmlns:a16="http://schemas.microsoft.com/office/drawing/2014/main" id="{C4D20F77-8A11-CF83-1128-CECEA9966607}"/>
              </a:ext>
            </a:extLst>
          </p:cNvPr>
          <p:cNvSpPr/>
          <p:nvPr/>
        </p:nvSpPr>
        <p:spPr>
          <a:xfrm>
            <a:off x="7254240" y="5262879"/>
            <a:ext cx="4652624" cy="13443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with </a:t>
            </a:r>
            <a:r>
              <a:rPr lang="en-IN" sz="1400" dirty="0" err="1"/>
              <a:t>cte</a:t>
            </a:r>
            <a:r>
              <a:rPr lang="en-IN" sz="1400" dirty="0"/>
              <a:t> as (select category, </a:t>
            </a:r>
            <a:r>
              <a:rPr lang="en-IN" sz="1400" dirty="0" err="1"/>
              <a:t>item_name</a:t>
            </a:r>
            <a:r>
              <a:rPr lang="en-IN" sz="1400" dirty="0"/>
              <a:t>, count(</a:t>
            </a:r>
            <a:r>
              <a:rPr lang="en-IN" sz="1400" dirty="0" err="1"/>
              <a:t>order_id</a:t>
            </a:r>
            <a:r>
              <a:rPr lang="en-IN" sz="1400" dirty="0"/>
              <a:t>) as </a:t>
            </a:r>
            <a:r>
              <a:rPr lang="en-IN" sz="1400" dirty="0" err="1"/>
              <a:t>numberOForders</a:t>
            </a:r>
            <a:r>
              <a:rPr lang="en-IN" sz="1400" dirty="0"/>
              <a:t>, rank () over (partition by category order by count(</a:t>
            </a:r>
            <a:r>
              <a:rPr lang="en-IN" sz="1400" dirty="0" err="1"/>
              <a:t>order_id</a:t>
            </a:r>
            <a:r>
              <a:rPr lang="en-IN" sz="1400" dirty="0"/>
              <a:t>) </a:t>
            </a:r>
            <a:r>
              <a:rPr lang="en-IN" sz="1400" dirty="0" err="1"/>
              <a:t>desc</a:t>
            </a:r>
            <a:r>
              <a:rPr lang="en-IN" sz="1400" dirty="0"/>
              <a:t>) as </a:t>
            </a:r>
            <a:r>
              <a:rPr lang="en-IN" sz="1400" dirty="0" err="1"/>
              <a:t>rnkfrom</a:t>
            </a:r>
            <a:r>
              <a:rPr lang="en-IN" sz="1400" dirty="0"/>
              <a:t> </a:t>
            </a:r>
            <a:r>
              <a:rPr lang="en-IN" sz="1400" dirty="0" err="1"/>
              <a:t>order_details</a:t>
            </a:r>
            <a:r>
              <a:rPr lang="en-IN" sz="1400" dirty="0"/>
              <a:t> o inner join </a:t>
            </a:r>
            <a:r>
              <a:rPr lang="en-IN" sz="1400" dirty="0" err="1"/>
              <a:t>menu_items</a:t>
            </a:r>
            <a:r>
              <a:rPr lang="en-IN" sz="1400" dirty="0"/>
              <a:t> m on </a:t>
            </a:r>
            <a:r>
              <a:rPr lang="en-IN" sz="1400" dirty="0" err="1"/>
              <a:t>o.item_id</a:t>
            </a:r>
            <a:r>
              <a:rPr lang="en-IN" sz="1400" dirty="0"/>
              <a:t>=</a:t>
            </a:r>
            <a:r>
              <a:rPr lang="en-IN" sz="1400" dirty="0" err="1"/>
              <a:t>m.menu_item_idgroup</a:t>
            </a:r>
            <a:r>
              <a:rPr lang="en-IN" sz="1400" dirty="0"/>
              <a:t> by </a:t>
            </a:r>
            <a:r>
              <a:rPr lang="en-IN" sz="1400" dirty="0" err="1"/>
              <a:t>category,item_name</a:t>
            </a:r>
            <a:r>
              <a:rPr lang="en-IN" sz="1400" dirty="0"/>
              <a:t> )select * from </a:t>
            </a:r>
            <a:r>
              <a:rPr lang="en-IN" sz="1400" dirty="0" err="1"/>
              <a:t>cte</a:t>
            </a:r>
            <a:r>
              <a:rPr lang="en-IN" sz="1400" dirty="0"/>
              <a:t> where </a:t>
            </a:r>
            <a:r>
              <a:rPr lang="en-IN" sz="1400" dirty="0" err="1"/>
              <a:t>rnk</a:t>
            </a:r>
            <a:r>
              <a:rPr lang="en-IN" sz="1400" dirty="0"/>
              <a:t>&lt;=3;</a:t>
            </a:r>
          </a:p>
        </p:txBody>
      </p:sp>
      <p:graphicFrame>
        <p:nvGraphicFramePr>
          <p:cNvPr id="2" name="Table 1">
            <a:extLst>
              <a:ext uri="{FF2B5EF4-FFF2-40B4-BE49-F238E27FC236}">
                <a16:creationId xmlns:a16="http://schemas.microsoft.com/office/drawing/2014/main" id="{5FACBF44-AC5B-3B91-B823-7A98ED4CEE9E}"/>
              </a:ext>
            </a:extLst>
          </p:cNvPr>
          <p:cNvGraphicFramePr>
            <a:graphicFrameLocks noGrp="1"/>
          </p:cNvGraphicFramePr>
          <p:nvPr>
            <p:extLst>
              <p:ext uri="{D42A27DB-BD31-4B8C-83A1-F6EECF244321}">
                <p14:modId xmlns:p14="http://schemas.microsoft.com/office/powerpoint/2010/main" val="2083216099"/>
              </p:ext>
            </p:extLst>
          </p:nvPr>
        </p:nvGraphicFramePr>
        <p:xfrm>
          <a:off x="2661920" y="1483360"/>
          <a:ext cx="7203441" cy="3637283"/>
        </p:xfrm>
        <a:graphic>
          <a:graphicData uri="http://schemas.openxmlformats.org/drawingml/2006/table">
            <a:tbl>
              <a:tblPr/>
              <a:tblGrid>
                <a:gridCol w="1502703">
                  <a:extLst>
                    <a:ext uri="{9D8B030D-6E8A-4147-A177-3AD203B41FA5}">
                      <a16:colId xmlns:a16="http://schemas.microsoft.com/office/drawing/2014/main" val="1608905972"/>
                    </a:ext>
                  </a:extLst>
                </a:gridCol>
                <a:gridCol w="2576066">
                  <a:extLst>
                    <a:ext uri="{9D8B030D-6E8A-4147-A177-3AD203B41FA5}">
                      <a16:colId xmlns:a16="http://schemas.microsoft.com/office/drawing/2014/main" val="3096283966"/>
                    </a:ext>
                  </a:extLst>
                </a:gridCol>
                <a:gridCol w="1979754">
                  <a:extLst>
                    <a:ext uri="{9D8B030D-6E8A-4147-A177-3AD203B41FA5}">
                      <a16:colId xmlns:a16="http://schemas.microsoft.com/office/drawing/2014/main" val="3249757215"/>
                    </a:ext>
                  </a:extLst>
                </a:gridCol>
                <a:gridCol w="1144918">
                  <a:extLst>
                    <a:ext uri="{9D8B030D-6E8A-4147-A177-3AD203B41FA5}">
                      <a16:colId xmlns:a16="http://schemas.microsoft.com/office/drawing/2014/main" val="2882735843"/>
                    </a:ext>
                  </a:extLst>
                </a:gridCol>
              </a:tblGrid>
              <a:tr h="279791">
                <a:tc>
                  <a:txBody>
                    <a:bodyPr/>
                    <a:lstStyle/>
                    <a:p>
                      <a:pPr algn="ctr" fontAlgn="b">
                        <a:buNone/>
                      </a:pPr>
                      <a:r>
                        <a:rPr lang="en-IN" sz="1100" b="1" i="0" u="none" strike="noStrike">
                          <a:solidFill>
                            <a:srgbClr val="FFFFFF"/>
                          </a:solidFill>
                          <a:effectLst/>
                          <a:latin typeface="Calibri" panose="020F0502020204030204" pitchFamily="34" charset="0"/>
                        </a:rPr>
                        <a:t>category</a:t>
                      </a:r>
                    </a:p>
                  </a:txBody>
                  <a:tcPr marL="7620" marR="7620" marT="7620" marB="0" anchor="b">
                    <a:lnL>
                      <a:noFill/>
                    </a:lnL>
                    <a:lnR>
                      <a:noFill/>
                    </a:lnR>
                    <a:lnT>
                      <a:noFill/>
                    </a:lnT>
                    <a:lnB>
                      <a:noFill/>
                    </a:lnB>
                    <a:solidFill>
                      <a:srgbClr val="C65911"/>
                    </a:solidFill>
                  </a:tcPr>
                </a:tc>
                <a:tc>
                  <a:txBody>
                    <a:bodyPr/>
                    <a:lstStyle/>
                    <a:p>
                      <a:pPr algn="ctr" fontAlgn="b">
                        <a:buNone/>
                      </a:pPr>
                      <a:r>
                        <a:rPr lang="en-IN" sz="1100" b="1" i="0" u="none" strike="noStrike">
                          <a:solidFill>
                            <a:srgbClr val="FFFFFF"/>
                          </a:solidFill>
                          <a:effectLst/>
                          <a:latin typeface="Calibri" panose="020F0502020204030204" pitchFamily="34" charset="0"/>
                        </a:rPr>
                        <a:t>item_name</a:t>
                      </a:r>
                    </a:p>
                  </a:txBody>
                  <a:tcPr marL="7620" marR="7620" marT="7620" marB="0" anchor="b">
                    <a:lnL>
                      <a:noFill/>
                    </a:lnL>
                    <a:lnR>
                      <a:noFill/>
                    </a:lnR>
                    <a:lnT>
                      <a:noFill/>
                    </a:lnT>
                    <a:lnB>
                      <a:noFill/>
                    </a:lnB>
                    <a:solidFill>
                      <a:srgbClr val="C65911"/>
                    </a:solidFill>
                  </a:tcPr>
                </a:tc>
                <a:tc>
                  <a:txBody>
                    <a:bodyPr/>
                    <a:lstStyle/>
                    <a:p>
                      <a:pPr algn="ctr" fontAlgn="b">
                        <a:buNone/>
                      </a:pPr>
                      <a:r>
                        <a:rPr lang="en-IN" sz="1100" b="1" i="0" u="none" strike="noStrike">
                          <a:solidFill>
                            <a:srgbClr val="FFFFFF"/>
                          </a:solidFill>
                          <a:effectLst/>
                          <a:latin typeface="Calibri" panose="020F0502020204030204" pitchFamily="34" charset="0"/>
                        </a:rPr>
                        <a:t>number of orders</a:t>
                      </a:r>
                    </a:p>
                  </a:txBody>
                  <a:tcPr marL="7620" marR="7620" marT="7620" marB="0" anchor="b">
                    <a:lnL>
                      <a:noFill/>
                    </a:lnL>
                    <a:lnR>
                      <a:noFill/>
                    </a:lnR>
                    <a:lnT>
                      <a:noFill/>
                    </a:lnT>
                    <a:lnB>
                      <a:noFill/>
                    </a:lnB>
                    <a:solidFill>
                      <a:srgbClr val="C65911"/>
                    </a:solidFill>
                  </a:tcPr>
                </a:tc>
                <a:tc>
                  <a:txBody>
                    <a:bodyPr/>
                    <a:lstStyle/>
                    <a:p>
                      <a:pPr algn="ctr" fontAlgn="b">
                        <a:buNone/>
                      </a:pPr>
                      <a:r>
                        <a:rPr lang="en-IN" sz="1100" b="1" i="0" u="none" strike="noStrike">
                          <a:solidFill>
                            <a:srgbClr val="FFFFFF"/>
                          </a:solidFill>
                          <a:effectLst/>
                          <a:latin typeface="Calibri" panose="020F0502020204030204" pitchFamily="34" charset="0"/>
                        </a:rPr>
                        <a:t>rank</a:t>
                      </a:r>
                    </a:p>
                  </a:txBody>
                  <a:tcPr marL="7620" marR="7620" marT="7620" marB="0" anchor="b">
                    <a:lnL>
                      <a:noFill/>
                    </a:lnL>
                    <a:lnR>
                      <a:noFill/>
                    </a:lnR>
                    <a:lnT>
                      <a:noFill/>
                    </a:lnT>
                    <a:lnB>
                      <a:noFill/>
                    </a:lnB>
                    <a:solidFill>
                      <a:srgbClr val="C65911"/>
                    </a:solidFill>
                  </a:tcPr>
                </a:tc>
                <a:extLst>
                  <a:ext uri="{0D108BD9-81ED-4DB2-BD59-A6C34878D82A}">
                    <a16:rowId xmlns:a16="http://schemas.microsoft.com/office/drawing/2014/main" val="3768662521"/>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American</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Hamburger</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622</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solidFill>
                      <a:srgbClr val="FCE4D6"/>
                    </a:solidFill>
                  </a:tcPr>
                </a:tc>
                <a:extLst>
                  <a:ext uri="{0D108BD9-81ED-4DB2-BD59-A6C34878D82A}">
                    <a16:rowId xmlns:a16="http://schemas.microsoft.com/office/drawing/2014/main" val="2721848916"/>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American</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Cheeseburger</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dirty="0">
                          <a:solidFill>
                            <a:srgbClr val="000000"/>
                          </a:solidFill>
                          <a:effectLst/>
                          <a:latin typeface="Calibri" panose="020F0502020204030204" pitchFamily="34" charset="0"/>
                        </a:rPr>
                        <a:t>583</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dirty="0">
                          <a:solidFill>
                            <a:srgbClr val="000000"/>
                          </a:solidFill>
                          <a:effectLst/>
                          <a:latin typeface="Calibri" panose="020F0502020204030204" pitchFamily="34" charset="0"/>
                        </a:rPr>
                        <a:t>2</a:t>
                      </a:r>
                    </a:p>
                  </a:txBody>
                  <a:tcPr marL="7620" marR="7620" marT="7620" marB="0" anchor="b">
                    <a:lnL>
                      <a:noFill/>
                    </a:lnL>
                    <a:lnR>
                      <a:noFill/>
                    </a:lnR>
                    <a:lnT>
                      <a:noFill/>
                    </a:lnT>
                    <a:lnB>
                      <a:noFill/>
                    </a:lnB>
                    <a:solidFill>
                      <a:srgbClr val="FCE4D6"/>
                    </a:solidFill>
                  </a:tcPr>
                </a:tc>
                <a:extLst>
                  <a:ext uri="{0D108BD9-81ED-4DB2-BD59-A6C34878D82A}">
                    <a16:rowId xmlns:a16="http://schemas.microsoft.com/office/drawing/2014/main" val="1099225650"/>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American</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French Fries</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571</a:t>
                      </a:r>
                    </a:p>
                  </a:txBody>
                  <a:tcPr marL="7620" marR="7620" marT="7620" marB="0" anchor="b">
                    <a:lnL>
                      <a:noFill/>
                    </a:lnL>
                    <a:lnR>
                      <a:noFill/>
                    </a:lnR>
                    <a:lnT>
                      <a:noFill/>
                    </a:lnT>
                    <a:lnB>
                      <a:noFill/>
                    </a:lnB>
                    <a:solidFill>
                      <a:srgbClr val="FCE4D6"/>
                    </a:solidFill>
                  </a:tcPr>
                </a:tc>
                <a:tc>
                  <a:txBody>
                    <a:bodyPr/>
                    <a:lstStyle/>
                    <a:p>
                      <a:pPr algn="ctr" fontAlgn="b">
                        <a:buNone/>
                      </a:pPr>
                      <a:r>
                        <a:rPr lang="en-IN"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solidFill>
                      <a:srgbClr val="FCE4D6"/>
                    </a:solidFill>
                  </a:tcPr>
                </a:tc>
                <a:extLst>
                  <a:ext uri="{0D108BD9-81ED-4DB2-BD59-A6C34878D82A}">
                    <a16:rowId xmlns:a16="http://schemas.microsoft.com/office/drawing/2014/main" val="1290929835"/>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Asian</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Edamame</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620</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solidFill>
                      <a:srgbClr val="C6E0B4"/>
                    </a:solidFill>
                  </a:tcPr>
                </a:tc>
                <a:extLst>
                  <a:ext uri="{0D108BD9-81ED-4DB2-BD59-A6C34878D82A}">
                    <a16:rowId xmlns:a16="http://schemas.microsoft.com/office/drawing/2014/main" val="910758613"/>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Asian</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Korean Beef Bowl</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588</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solidFill>
                      <a:srgbClr val="C6E0B4"/>
                    </a:solidFill>
                  </a:tcPr>
                </a:tc>
                <a:extLst>
                  <a:ext uri="{0D108BD9-81ED-4DB2-BD59-A6C34878D82A}">
                    <a16:rowId xmlns:a16="http://schemas.microsoft.com/office/drawing/2014/main" val="4089923620"/>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Asian</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Tofu Pad Thai</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562</a:t>
                      </a:r>
                    </a:p>
                  </a:txBody>
                  <a:tcPr marL="7620" marR="7620" marT="7620" marB="0" anchor="b">
                    <a:lnL>
                      <a:noFill/>
                    </a:lnL>
                    <a:lnR>
                      <a:noFill/>
                    </a:lnR>
                    <a:lnT>
                      <a:noFill/>
                    </a:lnT>
                    <a:lnB>
                      <a:noFill/>
                    </a:lnB>
                    <a:solidFill>
                      <a:srgbClr val="C6E0B4"/>
                    </a:solidFill>
                  </a:tcPr>
                </a:tc>
                <a:tc>
                  <a:txBody>
                    <a:bodyPr/>
                    <a:lstStyle/>
                    <a:p>
                      <a:pPr algn="ctr" fontAlgn="b">
                        <a:buNone/>
                      </a:pPr>
                      <a:r>
                        <a:rPr lang="en-IN"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solidFill>
                      <a:srgbClr val="C6E0B4"/>
                    </a:solidFill>
                  </a:tcPr>
                </a:tc>
                <a:extLst>
                  <a:ext uri="{0D108BD9-81ED-4DB2-BD59-A6C34878D82A}">
                    <a16:rowId xmlns:a16="http://schemas.microsoft.com/office/drawing/2014/main" val="528719132"/>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Italian</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Spaghetti &amp; Meatballs</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470</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solidFill>
                      <a:srgbClr val="FFF2CC"/>
                    </a:solidFill>
                  </a:tcPr>
                </a:tc>
                <a:extLst>
                  <a:ext uri="{0D108BD9-81ED-4DB2-BD59-A6C34878D82A}">
                    <a16:rowId xmlns:a16="http://schemas.microsoft.com/office/drawing/2014/main" val="1639515913"/>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Italian</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Eggplant Parmesan</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420</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solidFill>
                      <a:srgbClr val="FFF2CC"/>
                    </a:solidFill>
                  </a:tcPr>
                </a:tc>
                <a:extLst>
                  <a:ext uri="{0D108BD9-81ED-4DB2-BD59-A6C34878D82A}">
                    <a16:rowId xmlns:a16="http://schemas.microsoft.com/office/drawing/2014/main" val="108138200"/>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Italian</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Spaghetti</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367</a:t>
                      </a:r>
                    </a:p>
                  </a:txBody>
                  <a:tcPr marL="7620" marR="7620" marT="7620" marB="0" anchor="b">
                    <a:lnL>
                      <a:noFill/>
                    </a:lnL>
                    <a:lnR>
                      <a:noFill/>
                    </a:lnR>
                    <a:lnT>
                      <a:noFill/>
                    </a:lnT>
                    <a:lnB>
                      <a:noFill/>
                    </a:lnB>
                    <a:solidFill>
                      <a:srgbClr val="FFF2CC"/>
                    </a:solidFill>
                  </a:tcPr>
                </a:tc>
                <a:tc>
                  <a:txBody>
                    <a:bodyPr/>
                    <a:lstStyle/>
                    <a:p>
                      <a:pPr algn="ctr" fontAlgn="b">
                        <a:buNone/>
                      </a:pPr>
                      <a:r>
                        <a:rPr lang="en-IN"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solidFill>
                      <a:srgbClr val="FFF2CC"/>
                    </a:solidFill>
                  </a:tcPr>
                </a:tc>
                <a:extLst>
                  <a:ext uri="{0D108BD9-81ED-4DB2-BD59-A6C34878D82A}">
                    <a16:rowId xmlns:a16="http://schemas.microsoft.com/office/drawing/2014/main" val="2379944163"/>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Mexican</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Steak Torta</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489</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solidFill>
                      <a:srgbClr val="D9E1F2"/>
                    </a:solidFill>
                  </a:tcPr>
                </a:tc>
                <a:extLst>
                  <a:ext uri="{0D108BD9-81ED-4DB2-BD59-A6C34878D82A}">
                    <a16:rowId xmlns:a16="http://schemas.microsoft.com/office/drawing/2014/main" val="1378579635"/>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Mexican</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Chips &amp; Salsa</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461</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2</a:t>
                      </a:r>
                    </a:p>
                  </a:txBody>
                  <a:tcPr marL="7620" marR="7620" marT="7620" marB="0" anchor="b">
                    <a:lnL>
                      <a:noFill/>
                    </a:lnL>
                    <a:lnR>
                      <a:noFill/>
                    </a:lnR>
                    <a:lnT>
                      <a:noFill/>
                    </a:lnT>
                    <a:lnB>
                      <a:noFill/>
                    </a:lnB>
                    <a:solidFill>
                      <a:srgbClr val="D9E1F2"/>
                    </a:solidFill>
                  </a:tcPr>
                </a:tc>
                <a:extLst>
                  <a:ext uri="{0D108BD9-81ED-4DB2-BD59-A6C34878D82A}">
                    <a16:rowId xmlns:a16="http://schemas.microsoft.com/office/drawing/2014/main" val="2465044690"/>
                  </a:ext>
                </a:extLst>
              </a:tr>
              <a:tr h="279791">
                <a:tc>
                  <a:txBody>
                    <a:bodyPr/>
                    <a:lstStyle/>
                    <a:p>
                      <a:pPr algn="ctr" fontAlgn="b">
                        <a:buNone/>
                      </a:pPr>
                      <a:r>
                        <a:rPr lang="en-IN" sz="1100" b="0" i="0" u="none" strike="noStrike">
                          <a:solidFill>
                            <a:srgbClr val="000000"/>
                          </a:solidFill>
                          <a:effectLst/>
                          <a:latin typeface="Calibri" panose="020F0502020204030204" pitchFamily="34" charset="0"/>
                        </a:rPr>
                        <a:t>Mexican</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Chicken Burrito</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a:solidFill>
                            <a:srgbClr val="000000"/>
                          </a:solidFill>
                          <a:effectLst/>
                          <a:latin typeface="Calibri" panose="020F0502020204030204" pitchFamily="34" charset="0"/>
                        </a:rPr>
                        <a:t>455</a:t>
                      </a:r>
                    </a:p>
                  </a:txBody>
                  <a:tcPr marL="7620" marR="7620" marT="7620" marB="0" anchor="b">
                    <a:lnL>
                      <a:noFill/>
                    </a:lnL>
                    <a:lnR>
                      <a:noFill/>
                    </a:lnR>
                    <a:lnT>
                      <a:noFill/>
                    </a:lnT>
                    <a:lnB>
                      <a:noFill/>
                    </a:lnB>
                    <a:solidFill>
                      <a:srgbClr val="D9E1F2"/>
                    </a:solidFill>
                  </a:tcPr>
                </a:tc>
                <a:tc>
                  <a:txBody>
                    <a:bodyPr/>
                    <a:lstStyle/>
                    <a:p>
                      <a:pPr algn="ctr" fontAlgn="b">
                        <a:buNone/>
                      </a:pPr>
                      <a:r>
                        <a:rPr lang="en-IN" sz="1100" b="0" i="0" u="none" strike="noStrike" dirty="0">
                          <a:solidFill>
                            <a:srgbClr val="000000"/>
                          </a:solidFill>
                          <a:effectLst/>
                          <a:latin typeface="Calibri" panose="020F0502020204030204" pitchFamily="34" charset="0"/>
                        </a:rPr>
                        <a:t>3</a:t>
                      </a:r>
                    </a:p>
                  </a:txBody>
                  <a:tcPr marL="7620" marR="7620" marT="7620" marB="0" anchor="b">
                    <a:lnL>
                      <a:noFill/>
                    </a:lnL>
                    <a:lnR>
                      <a:noFill/>
                    </a:lnR>
                    <a:lnT>
                      <a:noFill/>
                    </a:lnT>
                    <a:lnB>
                      <a:noFill/>
                    </a:lnB>
                    <a:solidFill>
                      <a:srgbClr val="D9E1F2"/>
                    </a:solidFill>
                  </a:tcPr>
                </a:tc>
                <a:extLst>
                  <a:ext uri="{0D108BD9-81ED-4DB2-BD59-A6C34878D82A}">
                    <a16:rowId xmlns:a16="http://schemas.microsoft.com/office/drawing/2014/main" val="1147892457"/>
                  </a:ext>
                </a:extLst>
              </a:tr>
            </a:tbl>
          </a:graphicData>
        </a:graphic>
      </p:graphicFrame>
    </p:spTree>
    <p:extLst>
      <p:ext uri="{BB962C8B-B14F-4D97-AF65-F5344CB8AC3E}">
        <p14:creationId xmlns:p14="http://schemas.microsoft.com/office/powerpoint/2010/main" val="2730373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1384C7B-127D-A6FE-1BEA-56EEDB3D131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08239CD-6A52-E68D-6C06-4BA22BBFF44A}"/>
              </a:ext>
            </a:extLst>
          </p:cNvPr>
          <p:cNvSpPr/>
          <p:nvPr/>
        </p:nvSpPr>
        <p:spPr>
          <a:xfrm>
            <a:off x="1" y="0"/>
            <a:ext cx="7619999" cy="6857999"/>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accent2">
                    <a:lumMod val="75000"/>
                  </a:schemeClr>
                </a:solidFill>
                <a:latin typeface="Bernard MT Condensed" panose="02050806060905020404" pitchFamily="18" charset="0"/>
              </a:rPr>
              <a:t>INSIGHTS</a:t>
            </a:r>
            <a:r>
              <a:rPr lang="en-US" sz="6000" dirty="0">
                <a:solidFill>
                  <a:schemeClr val="accent2">
                    <a:lumMod val="75000"/>
                  </a:schemeClr>
                </a:solidFill>
                <a:latin typeface="Bernard MT Condensed" panose="02050806060905020404" pitchFamily="18" charset="0"/>
              </a:rPr>
              <a:t> </a:t>
            </a:r>
            <a:r>
              <a:rPr lang="en-US" sz="6600" dirty="0">
                <a:solidFill>
                  <a:schemeClr val="accent2">
                    <a:lumMod val="75000"/>
                  </a:schemeClr>
                </a:solidFill>
                <a:latin typeface="Bernard MT Condensed" panose="02050806060905020404" pitchFamily="18" charset="0"/>
              </a:rPr>
              <a:t>AND</a:t>
            </a:r>
            <a:r>
              <a:rPr lang="en-US" sz="6000" dirty="0">
                <a:solidFill>
                  <a:schemeClr val="accent2">
                    <a:lumMod val="75000"/>
                  </a:schemeClr>
                </a:solidFill>
                <a:latin typeface="Bernard MT Condensed" panose="02050806060905020404" pitchFamily="18" charset="0"/>
              </a:rPr>
              <a:t> </a:t>
            </a:r>
            <a:r>
              <a:rPr lang="en-US" sz="6600" dirty="0">
                <a:solidFill>
                  <a:schemeClr val="accent2">
                    <a:lumMod val="75000"/>
                  </a:schemeClr>
                </a:solidFill>
                <a:latin typeface="Bernard MT Condensed" panose="02050806060905020404" pitchFamily="18" charset="0"/>
              </a:rPr>
              <a:t>RECOMMENDATIONS</a:t>
            </a:r>
          </a:p>
        </p:txBody>
      </p:sp>
      <p:sp>
        <p:nvSpPr>
          <p:cNvPr id="12" name="Rectangle 11">
            <a:extLst>
              <a:ext uri="{FF2B5EF4-FFF2-40B4-BE49-F238E27FC236}">
                <a16:creationId xmlns:a16="http://schemas.microsoft.com/office/drawing/2014/main" id="{1CFAD155-114B-E81D-C78C-C5CBE2E25246}"/>
              </a:ext>
            </a:extLst>
          </p:cNvPr>
          <p:cNvSpPr/>
          <p:nvPr/>
        </p:nvSpPr>
        <p:spPr>
          <a:xfrm>
            <a:off x="7620000" y="0"/>
            <a:ext cx="4571999"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a:extLst>
              <a:ext uri="{FF2B5EF4-FFF2-40B4-BE49-F238E27FC236}">
                <a16:creationId xmlns:a16="http://schemas.microsoft.com/office/drawing/2014/main" id="{3C69D2F4-3453-CDF0-CD3E-26DE58F27F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476999" y="1142996"/>
            <a:ext cx="6858002" cy="4571998"/>
          </a:xfrm>
          <a:prstGeom prst="rect">
            <a:avLst/>
          </a:prstGeom>
        </p:spPr>
      </p:pic>
    </p:spTree>
    <p:extLst>
      <p:ext uri="{BB962C8B-B14F-4D97-AF65-F5344CB8AC3E}">
        <p14:creationId xmlns:p14="http://schemas.microsoft.com/office/powerpoint/2010/main" val="2627203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C672668-5EAD-E215-1609-25B7D85FF5C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119173-C135-557D-E35D-7C381A568B49}"/>
              </a:ext>
            </a:extLst>
          </p:cNvPr>
          <p:cNvSpPr/>
          <p:nvPr/>
        </p:nvSpPr>
        <p:spPr>
          <a:xfrm>
            <a:off x="3441290" y="457200"/>
            <a:ext cx="4925961" cy="8259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Insights from data</a:t>
            </a:r>
            <a:endParaRPr lang="en-IN" sz="2400" dirty="0"/>
          </a:p>
        </p:txBody>
      </p:sp>
      <p:sp>
        <p:nvSpPr>
          <p:cNvPr id="3" name="Rectangle 2">
            <a:extLst>
              <a:ext uri="{FF2B5EF4-FFF2-40B4-BE49-F238E27FC236}">
                <a16:creationId xmlns:a16="http://schemas.microsoft.com/office/drawing/2014/main" id="{8F0CBC60-E0B1-A55C-B2C6-559B8B76BA79}"/>
              </a:ext>
            </a:extLst>
          </p:cNvPr>
          <p:cNvSpPr/>
          <p:nvPr/>
        </p:nvSpPr>
        <p:spPr>
          <a:xfrm>
            <a:off x="1071716" y="1733755"/>
            <a:ext cx="10048568" cy="44638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solidFill>
                  <a:schemeClr val="bg2">
                    <a:lumMod val="25000"/>
                  </a:schemeClr>
                </a:solidFill>
              </a:rPr>
              <a:t>   The Data shows that even if Mexican food items are offered more in menu but they are underperforming, but Asian food items are performing well(more orders and revenue) despite of being offered less in menu.</a:t>
            </a:r>
          </a:p>
          <a:p>
            <a:pPr>
              <a:lnSpc>
                <a:spcPct val="150000"/>
              </a:lnSpc>
            </a:pPr>
            <a:r>
              <a:rPr lang="en-IN" dirty="0">
                <a:solidFill>
                  <a:schemeClr val="bg2">
                    <a:lumMod val="25000"/>
                  </a:schemeClr>
                </a:solidFill>
              </a:rPr>
              <a:t>    Peak hours are12pm- 1 pm and in evening 5pm- 6 pm. Lesser number of orders during 2 pm-4 pm.</a:t>
            </a:r>
          </a:p>
          <a:p>
            <a:pPr>
              <a:lnSpc>
                <a:spcPct val="150000"/>
              </a:lnSpc>
            </a:pPr>
            <a:r>
              <a:rPr lang="en-IN" dirty="0">
                <a:solidFill>
                  <a:schemeClr val="bg2">
                    <a:lumMod val="25000"/>
                  </a:schemeClr>
                </a:solidFill>
              </a:rPr>
              <a:t>    Lowest number of orders are on Wednesday.</a:t>
            </a:r>
          </a:p>
          <a:p>
            <a:pPr>
              <a:lnSpc>
                <a:spcPct val="150000"/>
              </a:lnSpc>
            </a:pPr>
            <a:r>
              <a:rPr lang="en-IN" dirty="0">
                <a:solidFill>
                  <a:schemeClr val="bg2">
                    <a:lumMod val="25000"/>
                  </a:schemeClr>
                </a:solidFill>
              </a:rPr>
              <a:t>Top 5 highest value orders help to understand customer preferences and indicates they are crucial for business and indicates bestselling items.</a:t>
            </a:r>
          </a:p>
          <a:p>
            <a:r>
              <a:rPr lang="en-IN" dirty="0">
                <a:solidFill>
                  <a:schemeClr val="bg2">
                    <a:lumMod val="25000"/>
                  </a:schemeClr>
                </a:solidFill>
              </a:rPr>
              <a:t>     </a:t>
            </a:r>
          </a:p>
        </p:txBody>
      </p:sp>
    </p:spTree>
    <p:extLst>
      <p:ext uri="{BB962C8B-B14F-4D97-AF65-F5344CB8AC3E}">
        <p14:creationId xmlns:p14="http://schemas.microsoft.com/office/powerpoint/2010/main" val="1031351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8861E2D-AFC9-5E75-99F1-BFDE6EA723A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B1DFBA3-3473-885A-FF25-683B9DB5BF4E}"/>
              </a:ext>
            </a:extLst>
          </p:cNvPr>
          <p:cNvSpPr/>
          <p:nvPr/>
        </p:nvSpPr>
        <p:spPr>
          <a:xfrm>
            <a:off x="2979174" y="530942"/>
            <a:ext cx="6233652" cy="9930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Recommendations</a:t>
            </a:r>
            <a:endParaRPr lang="en-IN" sz="2400" dirty="0">
              <a:solidFill>
                <a:schemeClr val="bg1"/>
              </a:solidFill>
            </a:endParaRPr>
          </a:p>
        </p:txBody>
      </p:sp>
      <p:sp>
        <p:nvSpPr>
          <p:cNvPr id="3" name="Rectangle 2">
            <a:extLst>
              <a:ext uri="{FF2B5EF4-FFF2-40B4-BE49-F238E27FC236}">
                <a16:creationId xmlns:a16="http://schemas.microsoft.com/office/drawing/2014/main" id="{FFC2C434-341D-F4F1-9C62-D5B0FC5A0D51}"/>
              </a:ext>
            </a:extLst>
          </p:cNvPr>
          <p:cNvSpPr/>
          <p:nvPr/>
        </p:nvSpPr>
        <p:spPr>
          <a:xfrm>
            <a:off x="1037303" y="2202426"/>
            <a:ext cx="10117394" cy="41246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accent1">
                    <a:lumMod val="50000"/>
                  </a:schemeClr>
                </a:solidFill>
              </a:rPr>
              <a:t>Menu Re-engineering</a:t>
            </a:r>
          </a:p>
          <a:p>
            <a:r>
              <a:rPr lang="en-US" dirty="0">
                <a:solidFill>
                  <a:schemeClr val="accent1">
                    <a:lumMod val="50000"/>
                  </a:schemeClr>
                </a:solidFill>
              </a:rPr>
              <a:t>  Placing underperforming Mexican items in high visibility areas of the menu (e.g. in a box or at the top) and add high quality photos of those items. Update the item with new name and use unique ingredients.</a:t>
            </a:r>
          </a:p>
          <a:p>
            <a:endParaRPr lang="en-US" dirty="0">
              <a:solidFill>
                <a:schemeClr val="accent1">
                  <a:lumMod val="50000"/>
                </a:schemeClr>
              </a:solidFill>
            </a:endParaRPr>
          </a:p>
          <a:p>
            <a:r>
              <a:rPr lang="en-US" b="1" dirty="0">
                <a:solidFill>
                  <a:schemeClr val="accent1">
                    <a:lumMod val="50000"/>
                  </a:schemeClr>
                </a:solidFill>
              </a:rPr>
              <a:t>Improve Efficiency</a:t>
            </a:r>
          </a:p>
          <a:p>
            <a:r>
              <a:rPr lang="en-US" b="1" dirty="0">
                <a:solidFill>
                  <a:schemeClr val="accent1">
                    <a:lumMod val="50000"/>
                  </a:schemeClr>
                </a:solidFill>
              </a:rPr>
              <a:t>   </a:t>
            </a:r>
            <a:r>
              <a:rPr lang="en-US" dirty="0">
                <a:solidFill>
                  <a:schemeClr val="accent1">
                    <a:lumMod val="50000"/>
                  </a:schemeClr>
                </a:solidFill>
              </a:rPr>
              <a:t>Improving workflow, training staff, managing inventory ,optimizing resource utilization and optimizing online ordering can boost revenue. To boost sales of expensive but underperforming items price can be revised, customer feedback can be taken. </a:t>
            </a:r>
            <a:endParaRPr lang="en-US" b="1" dirty="0">
              <a:solidFill>
                <a:schemeClr val="accent1">
                  <a:lumMod val="50000"/>
                </a:schemeClr>
              </a:solidFill>
            </a:endParaRPr>
          </a:p>
          <a:p>
            <a:endParaRPr lang="en-US" b="1" dirty="0">
              <a:solidFill>
                <a:schemeClr val="accent1">
                  <a:lumMod val="50000"/>
                </a:schemeClr>
              </a:solidFill>
            </a:endParaRPr>
          </a:p>
          <a:p>
            <a:r>
              <a:rPr lang="en-US" b="1" dirty="0">
                <a:solidFill>
                  <a:schemeClr val="accent1">
                    <a:lumMod val="50000"/>
                  </a:schemeClr>
                </a:solidFill>
              </a:rPr>
              <a:t>Enhance marketing</a:t>
            </a:r>
          </a:p>
          <a:p>
            <a:pPr algn="ctr"/>
            <a:r>
              <a:rPr lang="en-US" dirty="0">
                <a:solidFill>
                  <a:schemeClr val="accent1">
                    <a:lumMod val="50000"/>
                  </a:schemeClr>
                </a:solidFill>
              </a:rPr>
              <a:t>Introduce afternoon-happy-hour  and social media ads, promotions, send </a:t>
            </a:r>
            <a:r>
              <a:rPr lang="en-US" dirty="0" err="1">
                <a:solidFill>
                  <a:schemeClr val="accent1">
                    <a:lumMod val="50000"/>
                  </a:schemeClr>
                </a:solidFill>
              </a:rPr>
              <a:t>sms</a:t>
            </a:r>
            <a:r>
              <a:rPr lang="en-US" dirty="0">
                <a:solidFill>
                  <a:schemeClr val="accent1">
                    <a:lumMod val="50000"/>
                  </a:schemeClr>
                </a:solidFill>
              </a:rPr>
              <a:t> to increase sells during off peak hours  2pm-4pm and introduce special Wednesday offers to boost orders. </a:t>
            </a:r>
          </a:p>
          <a:p>
            <a:r>
              <a:rPr lang="en-US" dirty="0">
                <a:solidFill>
                  <a:schemeClr val="accent1">
                    <a:lumMod val="50000"/>
                  </a:schemeClr>
                </a:solidFill>
              </a:rPr>
              <a:t>Feature underperforming items in combos and creating limited time offers   </a:t>
            </a:r>
            <a:endParaRPr lang="en-IN" dirty="0">
              <a:solidFill>
                <a:schemeClr val="accent1">
                  <a:lumMod val="50000"/>
                </a:schemeClr>
              </a:solidFill>
            </a:endParaRPr>
          </a:p>
        </p:txBody>
      </p:sp>
    </p:spTree>
    <p:extLst>
      <p:ext uri="{BB962C8B-B14F-4D97-AF65-F5344CB8AC3E}">
        <p14:creationId xmlns:p14="http://schemas.microsoft.com/office/powerpoint/2010/main" val="806776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C3A162-63EB-063A-96B2-00C5A2C05F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E22BAC-DDCF-9513-D1EA-81688086933D}"/>
              </a:ext>
            </a:extLst>
          </p:cNvPr>
          <p:cNvSpPr/>
          <p:nvPr/>
        </p:nvSpPr>
        <p:spPr>
          <a:xfrm>
            <a:off x="2979174" y="530942"/>
            <a:ext cx="6233652" cy="57580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800" dirty="0">
                <a:solidFill>
                  <a:schemeClr val="bg1"/>
                </a:solidFill>
              </a:rPr>
              <a:t>THANK</a:t>
            </a:r>
          </a:p>
          <a:p>
            <a:pPr algn="ctr"/>
            <a:r>
              <a:rPr lang="en-US" sz="8800" dirty="0">
                <a:solidFill>
                  <a:schemeClr val="bg1"/>
                </a:solidFill>
              </a:rPr>
              <a:t> YOU</a:t>
            </a:r>
            <a:endParaRPr lang="en-IN" sz="8800" dirty="0">
              <a:solidFill>
                <a:schemeClr val="bg1"/>
              </a:solidFill>
            </a:endParaRPr>
          </a:p>
        </p:txBody>
      </p:sp>
    </p:spTree>
    <p:extLst>
      <p:ext uri="{BB962C8B-B14F-4D97-AF65-F5344CB8AC3E}">
        <p14:creationId xmlns:p14="http://schemas.microsoft.com/office/powerpoint/2010/main" val="1414127884"/>
      </p:ext>
    </p:extLst>
  </p:cSld>
  <p:clrMapOvr>
    <a:masterClrMapping/>
  </p:clrMapOvr>
</p:sld>
</file>

<file path=ppt/theme/theme1.xml><?xml version="1.0" encoding="utf-8"?>
<a:theme xmlns:a="http://schemas.openxmlformats.org/drawingml/2006/main" name="Office Theme">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954</TotalTime>
  <Words>1528</Words>
  <Application>Microsoft Office PowerPoint</Application>
  <PresentationFormat>Widescreen</PresentationFormat>
  <Paragraphs>127</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Bernard MT Condensed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Ayantika Chowdhury</dc:creator>
  <cp:lastModifiedBy>Ayantika Chowdhury</cp:lastModifiedBy>
  <cp:revision>15</cp:revision>
  <dcterms:created xsi:type="dcterms:W3CDTF">2026-02-05T15:45:08Z</dcterms:created>
  <dcterms:modified xsi:type="dcterms:W3CDTF">2026-02-07T19:12:25Z</dcterms:modified>
</cp:coreProperties>
</file>